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9" r:id="rId3"/>
    <p:sldId id="258" r:id="rId4"/>
    <p:sldId id="269" r:id="rId5"/>
    <p:sldId id="268" r:id="rId6"/>
    <p:sldId id="270" r:id="rId7"/>
    <p:sldId id="260" r:id="rId8"/>
    <p:sldId id="271" r:id="rId9"/>
    <p:sldId id="265" r:id="rId10"/>
    <p:sldId id="263" r:id="rId11"/>
    <p:sldId id="264" r:id="rId12"/>
    <p:sldId id="266" r:id="rId13"/>
    <p:sldId id="273" r:id="rId14"/>
    <p:sldId id="272" r:id="rId15"/>
  </p:sldIdLst>
  <p:sldSz cx="12192000" cy="6858000"/>
  <p:notesSz cx="6858000" cy="9144000"/>
  <p:embeddedFontLst>
    <p:embeddedFont>
      <p:font typeface="Berlin Sans FB Demi" panose="020E0802020502020306" pitchFamily="34" charset="0"/>
      <p:bold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ção Padrão" id="{4D0B5C70-9C0B-46DA-966B-0579797B9147}">
          <p14:sldIdLst>
            <p14:sldId id="256"/>
            <p14:sldId id="259"/>
            <p14:sldId id="258"/>
            <p14:sldId id="269"/>
            <p14:sldId id="268"/>
            <p14:sldId id="270"/>
            <p14:sldId id="260"/>
            <p14:sldId id="271"/>
            <p14:sldId id="265"/>
            <p14:sldId id="263"/>
            <p14:sldId id="264"/>
            <p14:sldId id="266"/>
            <p14:sldId id="273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B100E6-5FE3-4F4E-B15D-0814346C4D85}">
  <a:tblStyle styleId="{80B100E6-5FE3-4F4E-B15D-0814346C4D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8cb87935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e8cb87935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85585" y="2302619"/>
            <a:ext cx="6620827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ADLaM Display" panose="020F0502020204030204" pitchFamily="2" charset="0"/>
                <a:cs typeface="ADLaM Display" panose="020F0502020204030204" pitchFamily="2" charset="0"/>
                <a:sym typeface="Poppins"/>
              </a:rPr>
              <a:t>Máquina</a:t>
            </a:r>
            <a:r>
              <a:rPr lang="en-US" sz="480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ADLaM Display" panose="020F0502020204030204" pitchFamily="2" charset="0"/>
                <a:cs typeface="ADLaM Display" panose="020F0502020204030204" pitchFamily="2" charset="0"/>
                <a:sym typeface="Poppins"/>
              </a:rPr>
              <a:t> de Turing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Berlin Sans FB Demi" panose="020E0802020502020306" pitchFamily="34" charset="0"/>
                <a:ea typeface="ADLaM Display" panose="020F0502020204030204" pitchFamily="2" charset="0"/>
                <a:cs typeface="ADLaM Display" panose="020F0502020204030204" pitchFamily="2" charset="0"/>
                <a:sym typeface="Calibri"/>
              </a:rPr>
            </a:br>
            <a:r>
              <a:rPr lang="en-US" sz="480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ADLaM Display" panose="020F0502020204030204" pitchFamily="2" charset="0"/>
                <a:cs typeface="ADLaM Display" panose="020F0502020204030204" pitchFamily="2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ADLaM Display" panose="020F0502020204030204" pitchFamily="2" charset="0"/>
                <a:cs typeface="ADLaM Display" panose="020F0502020204030204" pitchFamily="2" charset="0"/>
                <a:sym typeface="Poppins"/>
              </a:rPr>
              <a:t>usa</a:t>
            </a:r>
            <a:r>
              <a:rPr lang="en-US" sz="4800" b="1" dirty="0" err="1">
                <a:solidFill>
                  <a:srgbClr val="0D9488"/>
                </a:solidFill>
                <a:latin typeface="Berlin Sans FB Demi" panose="020E0802020502020306" pitchFamily="34" charset="0"/>
                <a:ea typeface="ADLaM Display" panose="020F0502020204030204" pitchFamily="2" charset="0"/>
                <a:cs typeface="ADLaM Display" panose="020F0502020204030204" pitchFamily="2" charset="0"/>
                <a:sym typeface="Poppins"/>
              </a:rPr>
              <a:t>n</a:t>
            </a:r>
            <a:r>
              <a:rPr lang="en-US" sz="480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ADLaM Display" panose="020F0502020204030204" pitchFamily="2" charset="0"/>
                <a:cs typeface="ADLaM Display" panose="020F0502020204030204" pitchFamily="2" charset="0"/>
                <a:sym typeface="Poppins"/>
              </a:rPr>
              <a:t>do</a:t>
            </a:r>
            <a:r>
              <a:rPr lang="en-US" sz="480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ADLaM Display" panose="020F0502020204030204" pitchFamily="2" charset="0"/>
                <a:cs typeface="ADLaM Display" panose="020F0502020204030204" pitchFamily="2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ADLaM Display" panose="020F0502020204030204" pitchFamily="2" charset="0"/>
                <a:cs typeface="ADLaM Display" panose="020F0502020204030204" pitchFamily="2" charset="0"/>
                <a:sym typeface="Poppins"/>
              </a:rPr>
              <a:t>Pilhas</a:t>
            </a:r>
            <a:endParaRPr dirty="0">
              <a:latin typeface="Berlin Sans FB Demi" panose="020E0802020502020306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179743" y="4056945"/>
            <a:ext cx="38325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ECOM008 - </a:t>
            </a:r>
            <a:r>
              <a:rPr lang="en-US" sz="1500" b="1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Estrutura</a:t>
            </a: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Dados</a:t>
            </a:r>
            <a:endParaRPr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AB065F0-B59A-8929-C54D-85DCB6BD8EF9}"/>
              </a:ext>
            </a:extLst>
          </p:cNvPr>
          <p:cNvSpPr txBox="1"/>
          <p:nvPr/>
        </p:nvSpPr>
        <p:spPr>
          <a:xfrm>
            <a:off x="4724397" y="5462802"/>
            <a:ext cx="2743201" cy="1148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Levy Abreu Cavalcante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Helder </a:t>
            </a:r>
            <a:r>
              <a:rPr lang="pt-BR" sz="1500" b="1" dirty="0" err="1"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Nicollas</a:t>
            </a:r>
            <a:r>
              <a:rPr lang="pt-BR" sz="1500" b="1" dirty="0"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 Leão Peixoto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Rafael Luiz Bandeira Almeida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5E0B9B1-322D-86E5-2ED5-D2399A581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506" y="64633"/>
            <a:ext cx="1700982" cy="21733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24087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45363" y="2403458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F172A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Como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funciona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?</a:t>
            </a:r>
            <a:endParaRPr dirty="0">
              <a:latin typeface="Berlin Sans FB Demi" panose="020E0802020502020306" pitchFamily="34" charset="0"/>
            </a:endParaRPr>
          </a:p>
        </p:txBody>
      </p:sp>
      <p:pic>
        <p:nvPicPr>
          <p:cNvPr id="115" name="Google Shape;11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233612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952500" y="2876550"/>
            <a:ext cx="49053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Sem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Memória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Externa: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memória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é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restrita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apenas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estado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atual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952500" y="3590925"/>
            <a:ext cx="49053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Linguagens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Regulares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Reconhece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padrões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simples (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Expressões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Regulares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952500" y="4305300"/>
            <a:ext cx="49053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Componentes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Definida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Estados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(Q),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Alfabeto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(Σ) 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Transições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(δ).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952500" y="5019675"/>
            <a:ext cx="49053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b="1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Limitação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Não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consegue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contar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infinitamente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(ex: </a:t>
            </a:r>
            <a:r>
              <a:rPr lang="en-US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aⁿbⁿ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09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62426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3386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0530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62000" y="88302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Máquina</a:t>
            </a:r>
            <a:r>
              <a:rPr lang="en-US" sz="285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de </a:t>
            </a:r>
            <a:r>
              <a:rPr lang="en-US" sz="285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Estados</a:t>
            </a:r>
            <a:r>
              <a:rPr lang="en-US" sz="285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5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Finitos</a:t>
            </a:r>
            <a:r>
              <a:rPr lang="en-US" sz="285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(FSM)</a:t>
            </a:r>
            <a:endParaRPr dirty="0">
              <a:latin typeface="Berlin Sans FB Demi" panose="020E0802020502020306" pitchFamily="34" charset="0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71500" y="830820"/>
            <a:ext cx="76200" cy="5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5"/>
          <p:cNvGrpSpPr/>
          <p:nvPr/>
        </p:nvGrpSpPr>
        <p:grpSpPr>
          <a:xfrm>
            <a:off x="213238" y="2480157"/>
            <a:ext cx="5978013" cy="2050085"/>
            <a:chOff x="453998" y="1210046"/>
            <a:chExt cx="5616498" cy="4547994"/>
          </a:xfrm>
        </p:grpSpPr>
        <p:sp>
          <p:nvSpPr>
            <p:cNvPr id="102" name="Google Shape;102;p15"/>
            <p:cNvSpPr/>
            <p:nvPr/>
          </p:nvSpPr>
          <p:spPr>
            <a:xfrm>
              <a:off x="453998" y="1210046"/>
              <a:ext cx="5616498" cy="4264435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571500" y="1493605"/>
              <a:ext cx="5498996" cy="4264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Estrutura</a:t>
              </a:r>
              <a:r>
                <a:rPr lang="en-US" sz="1500" b="1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: 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Um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autômato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finito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acoplado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a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uma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memória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LIFO (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Pilha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).</a:t>
              </a:r>
              <a:endParaRPr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500" b="1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Limitação</a:t>
              </a:r>
              <a:r>
                <a:rPr lang="en-US" sz="1500" b="1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: 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Só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pode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acessar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o topo da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pilha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Poder: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Reconhece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Linguagens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Livres de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Contexto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(ex: aⁿbⁿ).</a:t>
              </a:r>
              <a:endParaRPr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500" b="1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Problema</a:t>
              </a:r>
              <a:r>
                <a:rPr lang="en-US" sz="1500" b="1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: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Não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resolve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linguagens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sensíveis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ao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contexto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dirty="0" err="1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como</a:t>
              </a:r>
              <a:r>
                <a:rPr lang="en-US" sz="1500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 aⁿbⁿcⁿ.</a:t>
              </a:r>
              <a:endParaRPr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4" name="Google Shape;104;p15"/>
          <p:cNvGrpSpPr/>
          <p:nvPr/>
        </p:nvGrpSpPr>
        <p:grpSpPr>
          <a:xfrm>
            <a:off x="6529554" y="1283109"/>
            <a:ext cx="5238900" cy="4572000"/>
            <a:chOff x="6381750" y="1524000"/>
            <a:chExt cx="5238900" cy="4572000"/>
          </a:xfrm>
        </p:grpSpPr>
        <p:sp>
          <p:nvSpPr>
            <p:cNvPr id="105" name="Google Shape;105;p15"/>
            <p:cNvSpPr/>
            <p:nvPr/>
          </p:nvSpPr>
          <p:spPr>
            <a:xfrm>
              <a:off x="6381750" y="1524000"/>
              <a:ext cx="5238900" cy="4572000"/>
            </a:xfrm>
            <a:prstGeom prst="roundRect">
              <a:avLst>
                <a:gd name="adj" fmla="val 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6" name="Google Shape;106;p15"/>
            <p:cNvPicPr preferRelativeResize="0"/>
            <p:nvPr/>
          </p:nvPicPr>
          <p:blipFill rotWithShape="1">
            <a:blip r:embed="rId4">
              <a:alphaModFix/>
            </a:blip>
            <a:srcRect l="787" r="797"/>
            <a:stretch/>
          </p:blipFill>
          <p:spPr>
            <a:xfrm>
              <a:off x="6572250" y="1714500"/>
              <a:ext cx="4857900" cy="4191000"/>
            </a:xfrm>
            <a:prstGeom prst="roundRect">
              <a:avLst>
                <a:gd name="adj" fmla="val 1818"/>
              </a:avLst>
            </a:prstGeom>
            <a:noFill/>
            <a:ln>
              <a:noFill/>
            </a:ln>
          </p:spPr>
        </p:pic>
      </p:grpSp>
      <p:sp>
        <p:nvSpPr>
          <p:cNvPr id="107" name="Google Shape;107;p15"/>
          <p:cNvSpPr txBox="1"/>
          <p:nvPr/>
        </p:nvSpPr>
        <p:spPr>
          <a:xfrm>
            <a:off x="778592" y="552998"/>
            <a:ext cx="4364294" cy="43858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Autômato</a:t>
            </a:r>
            <a:r>
              <a:rPr lang="en-US" sz="2850" b="1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de </a:t>
            </a:r>
            <a:r>
              <a:rPr lang="en-US" sz="2850" b="1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Pilha</a:t>
            </a:r>
            <a:r>
              <a:rPr lang="en-US" sz="2850" b="1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(PDA)</a:t>
            </a:r>
            <a:endParaRPr sz="2850" b="1" dirty="0">
              <a:solidFill>
                <a:srgbClr val="0D9488"/>
              </a:solidFill>
              <a:latin typeface="Berlin Sans FB Demi" panose="020E0802020502020306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26;p16">
            <a:extLst>
              <a:ext uri="{FF2B5EF4-FFF2-40B4-BE49-F238E27FC236}">
                <a16:creationId xmlns:a16="http://schemas.microsoft.com/office/drawing/2014/main" id="{6A0C2C10-300C-1F43-6B5B-768D0246A8DC}"/>
              </a:ext>
            </a:extLst>
          </p:cNvPr>
          <p:cNvSpPr/>
          <p:nvPr/>
        </p:nvSpPr>
        <p:spPr>
          <a:xfrm>
            <a:off x="571501" y="500789"/>
            <a:ext cx="76200" cy="5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03D79-BCF9-2E04-6684-2C8035C7C6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F06CE7-757C-44FB-ECF8-E8F18153CF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Google Shape;131;p17" descr="image.png">
            <a:extLst>
              <a:ext uri="{FF2B5EF4-FFF2-40B4-BE49-F238E27FC236}">
                <a16:creationId xmlns:a16="http://schemas.microsoft.com/office/drawing/2014/main" id="{652DF4C5-342C-07B2-83A1-126F84BC0C5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F7E1165-402F-2599-B0F2-170C1A9035FA}"/>
              </a:ext>
            </a:extLst>
          </p:cNvPr>
          <p:cNvSpPr txBox="1"/>
          <p:nvPr/>
        </p:nvSpPr>
        <p:spPr>
          <a:xfrm>
            <a:off x="685800" y="512874"/>
            <a:ext cx="60960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Alan Turing</a:t>
            </a:r>
          </a:p>
        </p:txBody>
      </p:sp>
      <p:sp>
        <p:nvSpPr>
          <p:cNvPr id="7" name="Google Shape;126;p16">
            <a:extLst>
              <a:ext uri="{FF2B5EF4-FFF2-40B4-BE49-F238E27FC236}">
                <a16:creationId xmlns:a16="http://schemas.microsoft.com/office/drawing/2014/main" id="{2C81E745-4D1A-0096-7732-8EF9A268EF5D}"/>
              </a:ext>
            </a:extLst>
          </p:cNvPr>
          <p:cNvSpPr/>
          <p:nvPr/>
        </p:nvSpPr>
        <p:spPr>
          <a:xfrm>
            <a:off x="571501" y="500789"/>
            <a:ext cx="76200" cy="5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m 4" descr="Alan Turing: vidas pessoal, carreira e legado - Brasil Escola">
            <a:extLst>
              <a:ext uri="{FF2B5EF4-FFF2-40B4-BE49-F238E27FC236}">
                <a16:creationId xmlns:a16="http://schemas.microsoft.com/office/drawing/2014/main" id="{FCF799CF-C5B8-603D-A068-D9A22EEAA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294" y="1312606"/>
            <a:ext cx="3780906" cy="514718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95A609B-F180-9171-66B2-DF1A3DDD120C}"/>
              </a:ext>
            </a:extLst>
          </p:cNvPr>
          <p:cNvSpPr txBox="1"/>
          <p:nvPr/>
        </p:nvSpPr>
        <p:spPr>
          <a:xfrm>
            <a:off x="571501" y="1796901"/>
            <a:ext cx="6096000" cy="39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Importância: </a:t>
            </a:r>
            <a:r>
              <a:rPr lang="pt-BR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Considerado o pai da computação.</a:t>
            </a:r>
            <a:endParaRPr lang="pt-BR" sz="15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099F318-7DB4-6A59-8344-1475AAF5C0BA}"/>
              </a:ext>
            </a:extLst>
          </p:cNvPr>
          <p:cNvSpPr txBox="1"/>
          <p:nvPr/>
        </p:nvSpPr>
        <p:spPr>
          <a:xfrm>
            <a:off x="571501" y="2294534"/>
            <a:ext cx="6174658" cy="39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Código Enigma: </a:t>
            </a:r>
            <a:r>
              <a:rPr lang="pt-BR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Liderou a quebra da criptografia nazista.</a:t>
            </a:r>
            <a:endParaRPr lang="pt-BR" sz="1500" b="1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62564A-46CF-9B60-B7CB-D388F0A1FF25}"/>
              </a:ext>
            </a:extLst>
          </p:cNvPr>
          <p:cNvSpPr txBox="1"/>
          <p:nvPr/>
        </p:nvSpPr>
        <p:spPr>
          <a:xfrm>
            <a:off x="571501" y="2853944"/>
            <a:ext cx="6174658" cy="39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Teste de Turing: </a:t>
            </a:r>
            <a:r>
              <a:rPr lang="pt-BR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Uma forma de medir a inteligência das máquinas</a:t>
            </a:r>
            <a:endParaRPr lang="pt-BR" sz="1500" b="1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CE5A1F0-3E5A-9C41-6748-6FF10588A486}"/>
              </a:ext>
            </a:extLst>
          </p:cNvPr>
          <p:cNvSpPr txBox="1"/>
          <p:nvPr/>
        </p:nvSpPr>
        <p:spPr>
          <a:xfrm>
            <a:off x="571501" y="3413354"/>
            <a:ext cx="6174658" cy="74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Máquina de Turing: </a:t>
            </a:r>
            <a:r>
              <a:rPr lang="pt-BR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Uma máquina capaz de computar tudo que é computável</a:t>
            </a:r>
            <a:endParaRPr lang="pt-BR" sz="1500" b="1" dirty="0"/>
          </a:p>
        </p:txBody>
      </p:sp>
    </p:spTree>
    <p:extLst>
      <p:ext uri="{BB962C8B-B14F-4D97-AF65-F5344CB8AC3E}">
        <p14:creationId xmlns:p14="http://schemas.microsoft.com/office/powerpoint/2010/main" val="2731456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7413C-7303-3BE6-D59F-CA1FA5CBFD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B1F0E1-5307-A039-3AC8-025658475C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Google Shape;131;p17" descr="image.png">
            <a:extLst>
              <a:ext uri="{FF2B5EF4-FFF2-40B4-BE49-F238E27FC236}">
                <a16:creationId xmlns:a16="http://schemas.microsoft.com/office/drawing/2014/main" id="{E51EDB85-063E-B371-B4A3-2D26152FEE5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D256E43-3247-94E7-0DF9-1A6216C725F5}"/>
              </a:ext>
            </a:extLst>
          </p:cNvPr>
          <p:cNvSpPr txBox="1"/>
          <p:nvPr/>
        </p:nvSpPr>
        <p:spPr>
          <a:xfrm>
            <a:off x="647701" y="506831"/>
            <a:ext cx="60960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Máquina</a:t>
            </a:r>
            <a:r>
              <a:rPr lang="en-US" sz="2850" b="1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de Turing</a:t>
            </a:r>
          </a:p>
        </p:txBody>
      </p:sp>
      <p:sp>
        <p:nvSpPr>
          <p:cNvPr id="9" name="Google Shape;126;p16">
            <a:extLst>
              <a:ext uri="{FF2B5EF4-FFF2-40B4-BE49-F238E27FC236}">
                <a16:creationId xmlns:a16="http://schemas.microsoft.com/office/drawing/2014/main" id="{F0C1C1AB-7103-F144-7F78-8E8A7C1E662B}"/>
              </a:ext>
            </a:extLst>
          </p:cNvPr>
          <p:cNvSpPr/>
          <p:nvPr/>
        </p:nvSpPr>
        <p:spPr>
          <a:xfrm>
            <a:off x="571501" y="500789"/>
            <a:ext cx="76200" cy="5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m 4" descr="Pedro Abreu :: Máquina de Turing, Decidibilidade e o Problema da Parada">
            <a:extLst>
              <a:ext uri="{FF2B5EF4-FFF2-40B4-BE49-F238E27FC236}">
                <a16:creationId xmlns:a16="http://schemas.microsoft.com/office/drawing/2014/main" id="{94BFFD1C-F572-D90B-94A1-DB97131FA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187" y="1393672"/>
            <a:ext cx="5080000" cy="36449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DDD7BD8-7A5B-444F-10E4-75DE45DB2BCE}"/>
              </a:ext>
            </a:extLst>
          </p:cNvPr>
          <p:cNvSpPr txBox="1"/>
          <p:nvPr/>
        </p:nvSpPr>
        <p:spPr>
          <a:xfrm>
            <a:off x="607142" y="1744941"/>
            <a:ext cx="6096000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Fita Infinita:</a:t>
            </a:r>
            <a:r>
              <a:rPr lang="pt-BR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memória sem limites práticos.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D917421-DD5A-C30A-D2B1-2861C9D6068A}"/>
              </a:ext>
            </a:extLst>
          </p:cNvPr>
          <p:cNvSpPr txBox="1"/>
          <p:nvPr/>
        </p:nvSpPr>
        <p:spPr>
          <a:xfrm>
            <a:off x="567813" y="2252611"/>
            <a:ext cx="6174658" cy="73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Cabeçote de Leitura/Escrita: </a:t>
            </a:r>
            <a:r>
              <a:rPr lang="pt-BR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pode se mover para esquerda ou para direita.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DDB20AB-2325-E705-B5D5-62B4BB044F5A}"/>
              </a:ext>
            </a:extLst>
          </p:cNvPr>
          <p:cNvSpPr txBox="1"/>
          <p:nvPr/>
        </p:nvSpPr>
        <p:spPr>
          <a:xfrm>
            <a:off x="608372" y="3114038"/>
            <a:ext cx="6174658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Determinismo: </a:t>
            </a:r>
            <a:r>
              <a:rPr lang="pt-BR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Cada estado e símbolo lido gera uma ação única.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2D349D3-24BC-60CA-C2E4-09D3A550D8AD}"/>
              </a:ext>
            </a:extLst>
          </p:cNvPr>
          <p:cNvSpPr txBox="1"/>
          <p:nvPr/>
        </p:nvSpPr>
        <p:spPr>
          <a:xfrm>
            <a:off x="608372" y="3722636"/>
            <a:ext cx="6174658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15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Poder:</a:t>
            </a:r>
            <a:r>
              <a:rPr lang="pt-BR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consegue resolver problemas de Gramáticas Irrestritas.</a:t>
            </a:r>
          </a:p>
        </p:txBody>
      </p:sp>
    </p:spTree>
    <p:extLst>
      <p:ext uri="{BB962C8B-B14F-4D97-AF65-F5344CB8AC3E}">
        <p14:creationId xmlns:p14="http://schemas.microsoft.com/office/powerpoint/2010/main" val="326762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76180-1928-61D3-051A-483FFB49D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08154B-559C-114B-DEF9-7589EC23D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Google Shape;131;p17" descr="image.png">
            <a:extLst>
              <a:ext uri="{FF2B5EF4-FFF2-40B4-BE49-F238E27FC236}">
                <a16:creationId xmlns:a16="http://schemas.microsoft.com/office/drawing/2014/main" id="{80C3774A-3AAF-3AE3-6FD8-25C4FEF327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819E760-4042-B454-B1CA-56117C410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462" y="1470281"/>
            <a:ext cx="6975475" cy="3917438"/>
          </a:xfrm>
          <a:prstGeom prst="rect">
            <a:avLst/>
          </a:prstGeom>
        </p:spPr>
      </p:pic>
      <p:sp>
        <p:nvSpPr>
          <p:cNvPr id="8" name="Google Shape;126;p16">
            <a:extLst>
              <a:ext uri="{FF2B5EF4-FFF2-40B4-BE49-F238E27FC236}">
                <a16:creationId xmlns:a16="http://schemas.microsoft.com/office/drawing/2014/main" id="{9F2F05C6-D5AD-EBC5-CC88-DB5054B4B14B}"/>
              </a:ext>
            </a:extLst>
          </p:cNvPr>
          <p:cNvSpPr/>
          <p:nvPr/>
        </p:nvSpPr>
        <p:spPr>
          <a:xfrm>
            <a:off x="571501" y="500789"/>
            <a:ext cx="76200" cy="5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7165069-6807-132F-F7DA-4FC4864CA22F}"/>
              </a:ext>
            </a:extLst>
          </p:cNvPr>
          <p:cNvSpPr txBox="1"/>
          <p:nvPr/>
        </p:nvSpPr>
        <p:spPr>
          <a:xfrm>
            <a:off x="685800" y="498130"/>
            <a:ext cx="60960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Exemplo</a:t>
            </a:r>
            <a:r>
              <a:rPr lang="en-US" sz="2850" b="1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de </a:t>
            </a:r>
            <a:r>
              <a:rPr lang="en-US" sz="2850" b="1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Máquina</a:t>
            </a:r>
            <a:r>
              <a:rPr lang="en-US" sz="2850" b="1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de Turing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B946BE1-41CD-E5B5-744D-551B82970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657647"/>
              </p:ext>
            </p:extLst>
          </p:nvPr>
        </p:nvGraphicFramePr>
        <p:xfrm>
          <a:off x="571501" y="1888974"/>
          <a:ext cx="4164966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88322">
                  <a:extLst>
                    <a:ext uri="{9D8B030D-6E8A-4147-A177-3AD203B41FA5}">
                      <a16:colId xmlns:a16="http://schemas.microsoft.com/office/drawing/2014/main" val="755722182"/>
                    </a:ext>
                  </a:extLst>
                </a:gridCol>
                <a:gridCol w="1388322">
                  <a:extLst>
                    <a:ext uri="{9D8B030D-6E8A-4147-A177-3AD203B41FA5}">
                      <a16:colId xmlns:a16="http://schemas.microsoft.com/office/drawing/2014/main" val="1913570835"/>
                    </a:ext>
                  </a:extLst>
                </a:gridCol>
                <a:gridCol w="1388322">
                  <a:extLst>
                    <a:ext uri="{9D8B030D-6E8A-4147-A177-3AD203B41FA5}">
                      <a16:colId xmlns:a16="http://schemas.microsoft.com/office/drawing/2014/main" val="29143038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Estado Atual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8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q</a:t>
                      </a:r>
                      <a:r>
                        <a:rPr lang="pt-BR" sz="1500" baseline="-250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(q</a:t>
                      </a:r>
                      <a:r>
                        <a:rPr lang="pt-BR" sz="1500" baseline="-2500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</a:t>
                      </a:r>
                      <a:r>
                        <a:rPr lang="pt-BR" sz="1500" baseline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, 0, L)</a:t>
                      </a:r>
                      <a:endParaRPr lang="pt-BR" sz="1500" baseline="-25000" dirty="0">
                        <a:solidFill>
                          <a:schemeClr val="tx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(q</a:t>
                      </a:r>
                      <a:r>
                        <a:rPr lang="pt-BR" sz="1500" baseline="-250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, 0, 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81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q</a:t>
                      </a:r>
                      <a:r>
                        <a:rPr lang="pt-BR" sz="1500" baseline="-250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(q</a:t>
                      </a:r>
                      <a:r>
                        <a:rPr lang="pt-BR" sz="1500" baseline="-250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</a:t>
                      </a:r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, 1, 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(q</a:t>
                      </a:r>
                      <a:r>
                        <a:rPr lang="pt-BR" sz="1500" baseline="-250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, 0, 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140280"/>
                  </a:ext>
                </a:extLst>
              </a:tr>
            </a:tbl>
          </a:graphicData>
        </a:graphic>
      </p:graphicFrame>
      <p:sp>
        <p:nvSpPr>
          <p:cNvPr id="15" name="CaixaDeTexto 14">
            <a:extLst>
              <a:ext uri="{FF2B5EF4-FFF2-40B4-BE49-F238E27FC236}">
                <a16:creationId xmlns:a16="http://schemas.microsoft.com/office/drawing/2014/main" id="{4BE94B3C-B305-4236-DA76-B744DC742387}"/>
              </a:ext>
            </a:extLst>
          </p:cNvPr>
          <p:cNvSpPr txBox="1"/>
          <p:nvPr/>
        </p:nvSpPr>
        <p:spPr>
          <a:xfrm>
            <a:off x="439737" y="3287244"/>
            <a:ext cx="6032183" cy="1085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5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Função de Transição (</a:t>
            </a:r>
            <a:r>
              <a:rPr lang="pt-BR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δ</a:t>
            </a:r>
            <a:r>
              <a:rPr lang="pt-BR" sz="1500" b="1" dirty="0"/>
              <a:t>)</a:t>
            </a:r>
            <a:endParaRPr lang="pt-BR" sz="1500" b="1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>
              <a:lnSpc>
                <a:spcPct val="150000"/>
              </a:lnSpc>
            </a:pPr>
            <a:r>
              <a:rPr lang="pt-BR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(Estado Atual, Símbolo) 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</a:t>
            </a:r>
            <a:r>
              <a:rPr lang="pt-BR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(Próximo Estado, Símbolo Escrito, Direção)</a:t>
            </a:r>
          </a:p>
          <a:p>
            <a:pPr>
              <a:lnSpc>
                <a:spcPct val="150000"/>
              </a:lnSpc>
            </a:pP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δ(q</a:t>
            </a:r>
            <a:r>
              <a:rPr lang="pt-BR" sz="1500" baseline="-2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0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1) = (q</a:t>
            </a:r>
            <a:r>
              <a:rPr lang="pt-BR" sz="1500" baseline="-2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0, R)</a:t>
            </a:r>
            <a:endParaRPr lang="pt-BR" sz="15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81931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4075"/>
            <a:ext cx="52387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24075"/>
            <a:ext cx="523875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51244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500" b="1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junção</a:t>
            </a:r>
            <a:r>
              <a:rPr lang="en-US" sz="1500" b="1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das duas </a:t>
            </a:r>
            <a:r>
              <a:rPr lang="en-US" sz="1500" b="1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pilhas</a:t>
            </a:r>
            <a:r>
              <a:rPr lang="en-US" sz="1500" b="1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simula</a:t>
            </a:r>
            <a:r>
              <a:rPr lang="en-US" sz="1500" b="1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perfeitamente</a:t>
            </a:r>
            <a:r>
              <a:rPr lang="en-US" sz="1500" b="1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uma</a:t>
            </a:r>
            <a:r>
              <a:rPr lang="en-US" sz="1500" b="1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fita</a:t>
            </a:r>
            <a:r>
              <a:rPr lang="en-US" sz="1500" b="1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bidirecional</a:t>
            </a:r>
            <a:r>
              <a:rPr lang="en-US" sz="1500" b="1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infinita</a:t>
            </a:r>
            <a:r>
              <a:rPr lang="en-US" sz="1500" b="1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750570" y="3152775"/>
            <a:ext cx="488061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Pilha</a:t>
            </a:r>
            <a:r>
              <a:rPr lang="en-US" sz="2100" b="1" i="0" u="none" strike="noStrike" cap="none" dirty="0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da </a:t>
            </a:r>
            <a:r>
              <a:rPr lang="en-US" sz="2100" b="1" i="0" u="none" strike="noStrike" cap="none" dirty="0" err="1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Esquerda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866775" y="3743325"/>
            <a:ext cx="4648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Armazena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todos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símbolos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à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esquerda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do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cabeçote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leitura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com o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símbolo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mais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próximo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no topo.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560820" y="3152775"/>
            <a:ext cx="488061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Pilha</a:t>
            </a:r>
            <a:r>
              <a:rPr lang="en-US" sz="2100" b="1" i="0" u="none" strike="noStrike" cap="none" dirty="0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da </a:t>
            </a:r>
            <a:r>
              <a:rPr lang="en-US" sz="2100" b="1" i="0" u="none" strike="noStrike" cap="none" dirty="0" err="1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Direita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6677025" y="3743325"/>
            <a:ext cx="4648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Armazena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símbolo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sob </a:t>
            </a:r>
            <a:r>
              <a:rPr lang="en-US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lang="en-US" sz="15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cabeçote</a:t>
            </a:r>
            <a:r>
              <a:rPr lang="en-US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leitura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todos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símbolos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à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sua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direita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fita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33700" y="246697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47866" y="549826"/>
            <a:ext cx="116014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Duas </a:t>
            </a:r>
            <a:r>
              <a:rPr lang="en-US" sz="285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Pilhas</a:t>
            </a:r>
            <a:r>
              <a:rPr lang="en-US" sz="285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= Uma </a:t>
            </a:r>
            <a:r>
              <a:rPr lang="en-US" sz="285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Fita</a:t>
            </a:r>
            <a:endParaRPr sz="2850" dirty="0">
              <a:latin typeface="Berlin Sans FB Demi" panose="020E0802020502020306" pitchFamily="34" charset="0"/>
            </a:endParaRPr>
          </a:p>
        </p:txBody>
      </p:sp>
      <p:pic>
        <p:nvPicPr>
          <p:cNvPr id="2" name="Google Shape;139;p17" descr="image.png">
            <a:extLst>
              <a:ext uri="{FF2B5EF4-FFF2-40B4-BE49-F238E27FC236}">
                <a16:creationId xmlns:a16="http://schemas.microsoft.com/office/drawing/2014/main" id="{18DB0F36-6F6E-40D1-2BD2-2E052F67191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43950" y="246697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6;p16">
            <a:extLst>
              <a:ext uri="{FF2B5EF4-FFF2-40B4-BE49-F238E27FC236}">
                <a16:creationId xmlns:a16="http://schemas.microsoft.com/office/drawing/2014/main" id="{6CE18473-85BF-ACB3-DABD-E19D3F5334AC}"/>
              </a:ext>
            </a:extLst>
          </p:cNvPr>
          <p:cNvSpPr/>
          <p:nvPr/>
        </p:nvSpPr>
        <p:spPr>
          <a:xfrm>
            <a:off x="571501" y="500789"/>
            <a:ext cx="76200" cy="5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41ADB-0C7E-42D6-241A-A72E8F097E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1F5610-3E4F-9B28-62E1-F496FD149A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8" name="Google Shape;131;p17" descr="image.png">
            <a:extLst>
              <a:ext uri="{FF2B5EF4-FFF2-40B4-BE49-F238E27FC236}">
                <a16:creationId xmlns:a16="http://schemas.microsoft.com/office/drawing/2014/main" id="{8338F143-0B4D-3235-204F-0BE36FCD9A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6;p16">
            <a:extLst>
              <a:ext uri="{FF2B5EF4-FFF2-40B4-BE49-F238E27FC236}">
                <a16:creationId xmlns:a16="http://schemas.microsoft.com/office/drawing/2014/main" id="{0552B2FD-2DE3-81A4-094E-1CBDDAECD29E}"/>
              </a:ext>
            </a:extLst>
          </p:cNvPr>
          <p:cNvSpPr/>
          <p:nvPr/>
        </p:nvSpPr>
        <p:spPr>
          <a:xfrm>
            <a:off x="571501" y="500789"/>
            <a:ext cx="76200" cy="5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13CBE12-5682-FAE3-795D-F8815881A767}"/>
              </a:ext>
            </a:extLst>
          </p:cNvPr>
          <p:cNvSpPr txBox="1"/>
          <p:nvPr/>
        </p:nvSpPr>
        <p:spPr>
          <a:xfrm>
            <a:off x="685800" y="500789"/>
            <a:ext cx="714248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Exemplo</a:t>
            </a:r>
            <a:r>
              <a:rPr lang="en-US" sz="2850" b="1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de </a:t>
            </a:r>
            <a:r>
              <a:rPr lang="en-US" sz="2850" b="1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Máquina</a:t>
            </a:r>
            <a:r>
              <a:rPr lang="en-US" sz="2850" b="1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de Turing com </a:t>
            </a:r>
            <a:r>
              <a:rPr lang="en-US" sz="2850" b="1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Pilhas</a:t>
            </a:r>
            <a:endParaRPr lang="en-US" sz="2850" b="1" dirty="0">
              <a:solidFill>
                <a:srgbClr val="0D9488"/>
              </a:solidFill>
              <a:latin typeface="Berlin Sans FB Demi" panose="020E0802020502020306" pitchFamily="34" charset="0"/>
              <a:ea typeface="Poppins"/>
              <a:cs typeface="Poppins"/>
              <a:sym typeface="Poppins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D9820B6-AE8D-6FDB-F0C6-DDCD41A55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184" y="1700530"/>
            <a:ext cx="2360192" cy="379984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4E330F87-4E5F-6EC0-49C7-17066558A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870" y="1700530"/>
            <a:ext cx="2368822" cy="3799840"/>
          </a:xfrm>
          <a:prstGeom prst="rect">
            <a:avLst/>
          </a:prstGeom>
        </p:spPr>
      </p:pic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8EBDE1A2-C9D6-17BD-259F-64FB5984C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732734"/>
              </p:ext>
            </p:extLst>
          </p:nvPr>
        </p:nvGraphicFramePr>
        <p:xfrm>
          <a:off x="647701" y="1958700"/>
          <a:ext cx="4164966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88322">
                  <a:extLst>
                    <a:ext uri="{9D8B030D-6E8A-4147-A177-3AD203B41FA5}">
                      <a16:colId xmlns:a16="http://schemas.microsoft.com/office/drawing/2014/main" val="1335012589"/>
                    </a:ext>
                  </a:extLst>
                </a:gridCol>
                <a:gridCol w="1388322">
                  <a:extLst>
                    <a:ext uri="{9D8B030D-6E8A-4147-A177-3AD203B41FA5}">
                      <a16:colId xmlns:a16="http://schemas.microsoft.com/office/drawing/2014/main" val="4114268360"/>
                    </a:ext>
                  </a:extLst>
                </a:gridCol>
                <a:gridCol w="1388322">
                  <a:extLst>
                    <a:ext uri="{9D8B030D-6E8A-4147-A177-3AD203B41FA5}">
                      <a16:colId xmlns:a16="http://schemas.microsoft.com/office/drawing/2014/main" val="1615336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Estado Atual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16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q</a:t>
                      </a:r>
                      <a:r>
                        <a:rPr lang="pt-BR" sz="1500" baseline="-250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(q</a:t>
                      </a:r>
                      <a:r>
                        <a:rPr lang="pt-BR" sz="1500" baseline="-2500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r>
                        <a:rPr lang="pt-BR" sz="1500" baseline="0" dirty="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, 0, R)</a:t>
                      </a:r>
                      <a:endParaRPr lang="pt-BR" sz="1500" baseline="-25000" dirty="0">
                        <a:solidFill>
                          <a:schemeClr val="tx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(q</a:t>
                      </a:r>
                      <a:r>
                        <a:rPr lang="pt-BR" sz="1500" baseline="-250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</a:t>
                      </a:r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, 1, 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48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q</a:t>
                      </a:r>
                      <a:r>
                        <a:rPr lang="pt-BR" sz="1500" baseline="-250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(q</a:t>
                      </a:r>
                      <a:r>
                        <a:rPr lang="pt-BR" sz="1500" baseline="-250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</a:t>
                      </a:r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, 1, 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(q</a:t>
                      </a:r>
                      <a:r>
                        <a:rPr lang="pt-BR" sz="1500" baseline="-250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r>
                        <a:rPr lang="pt-BR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, 0, 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434611"/>
                  </a:ext>
                </a:extLst>
              </a:tr>
            </a:tbl>
          </a:graphicData>
        </a:graphic>
      </p:graphicFrame>
      <p:sp>
        <p:nvSpPr>
          <p:cNvPr id="20" name="CaixaDeTexto 19">
            <a:extLst>
              <a:ext uri="{FF2B5EF4-FFF2-40B4-BE49-F238E27FC236}">
                <a16:creationId xmlns:a16="http://schemas.microsoft.com/office/drawing/2014/main" id="{B45B06D3-AF65-37AF-FAA9-C75EC35FC913}"/>
              </a:ext>
            </a:extLst>
          </p:cNvPr>
          <p:cNvSpPr txBox="1"/>
          <p:nvPr/>
        </p:nvSpPr>
        <p:spPr>
          <a:xfrm>
            <a:off x="571501" y="3356970"/>
            <a:ext cx="6096000" cy="1085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5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Função de Transição (</a:t>
            </a:r>
            <a:r>
              <a:rPr lang="pt-BR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δ</a:t>
            </a:r>
            <a:r>
              <a:rPr lang="pt-BR" sz="1500" b="1" dirty="0"/>
              <a:t>)</a:t>
            </a:r>
            <a:endParaRPr lang="pt-BR" sz="1500" b="1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>
              <a:lnSpc>
                <a:spcPct val="150000"/>
              </a:lnSpc>
            </a:pPr>
            <a:r>
              <a:rPr lang="pt-BR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(Estado Atual, Símbolo) 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→</a:t>
            </a:r>
            <a:r>
              <a:rPr lang="pt-BR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(Próximo Estado, Símbolo Escrito, Direção)</a:t>
            </a:r>
          </a:p>
          <a:p>
            <a:pPr>
              <a:lnSpc>
                <a:spcPct val="150000"/>
              </a:lnSpc>
            </a:pP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δ(q</a:t>
            </a:r>
            <a:r>
              <a:rPr lang="pt-BR" sz="1500" baseline="-2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0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0) = (q</a:t>
            </a:r>
            <a:r>
              <a:rPr lang="pt-BR" sz="1500" baseline="-25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0, R)</a:t>
            </a:r>
            <a:endParaRPr lang="pt-BR" sz="15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6BFFB1A-849C-36C4-3A0C-873223B0BA9D}"/>
              </a:ext>
            </a:extLst>
          </p:cNvPr>
          <p:cNvSpPr txBox="1"/>
          <p:nvPr/>
        </p:nvSpPr>
        <p:spPr>
          <a:xfrm>
            <a:off x="571501" y="4583515"/>
            <a:ext cx="6096000" cy="1085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 contexto específico de Pilhas:</a:t>
            </a:r>
          </a:p>
          <a:p>
            <a:pPr>
              <a:lnSpc>
                <a:spcPct val="150000"/>
              </a:lnSpc>
            </a:pP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Movendo-se para direita: </a:t>
            </a:r>
            <a:r>
              <a:rPr lang="pt-BR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push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</a:t>
            </a:r>
            <a:r>
              <a:rPr lang="pt-BR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LeftStack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pop(</a:t>
            </a:r>
            <a:r>
              <a:rPr lang="pt-BR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RightStack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Movendo-se para esquerda: </a:t>
            </a:r>
            <a:r>
              <a:rPr lang="pt-BR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push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</a:t>
            </a:r>
            <a:r>
              <a:rPr lang="pt-BR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RightStack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pop(</a:t>
            </a:r>
            <a:r>
              <a:rPr lang="pt-BR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LeftStack</a:t>
            </a:r>
            <a:r>
              <a:rPr lang="pt-B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974845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>
            <a:off x="571500" y="3871912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10733" y="4354710"/>
            <a:ext cx="25521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Leitura</a:t>
            </a:r>
            <a:r>
              <a:rPr lang="en-US" sz="2100" b="1" i="0" u="none" strike="noStrike" cap="none" dirty="0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de 'a'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4945260"/>
            <a:ext cx="243066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Enquanto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lê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'a',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empilha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'X'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Pilha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1.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3383413" y="1998464"/>
            <a:ext cx="25521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Leitura</a:t>
            </a:r>
            <a:r>
              <a:rPr lang="en-US" sz="2100" b="1" i="0" u="none" strike="noStrike" cap="none" dirty="0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de 'b'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3444180" y="2589014"/>
            <a:ext cx="243066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Enquanto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lê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'b',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empilha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'Y'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Pilha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2.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6256094" y="4354710"/>
            <a:ext cx="25521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Verificação</a:t>
            </a:r>
            <a:r>
              <a:rPr lang="en-US" sz="2100" b="1" i="0" u="none" strike="noStrike" cap="none" dirty="0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'c'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6316860" y="4945260"/>
            <a:ext cx="243066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Lê 'c',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desempilha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'X' da P1 e 'Y' da P2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simultaneamente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9128774" y="1693664"/>
            <a:ext cx="25521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Aceitação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9189541" y="2284214"/>
            <a:ext cx="243066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Se ambas as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pilhas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esvaziarem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fim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da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cadeia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aceite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758315" y="552998"/>
            <a:ext cx="116014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Exemplo</a:t>
            </a:r>
            <a:r>
              <a:rPr lang="en-US" sz="285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: </a:t>
            </a:r>
            <a:r>
              <a:rPr lang="en-US" sz="285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Reconhecendo</a:t>
            </a:r>
            <a:r>
              <a:rPr lang="en-US" sz="285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{aⁿbⁿcⁿ}</a:t>
            </a:r>
            <a:endParaRPr sz="2850" dirty="0">
              <a:latin typeface="Berlin Sans FB Demi" panose="020E0802020502020306" pitchFamily="34" charset="0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1691580" y="37766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564260" y="37766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7436941" y="37766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10309621" y="37766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6;p16">
            <a:extLst>
              <a:ext uri="{FF2B5EF4-FFF2-40B4-BE49-F238E27FC236}">
                <a16:creationId xmlns:a16="http://schemas.microsoft.com/office/drawing/2014/main" id="{86564846-94B3-B2D4-2EF9-27557A138D0C}"/>
              </a:ext>
            </a:extLst>
          </p:cNvPr>
          <p:cNvSpPr/>
          <p:nvPr/>
        </p:nvSpPr>
        <p:spPr>
          <a:xfrm>
            <a:off x="571501" y="500789"/>
            <a:ext cx="76200" cy="5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0287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00287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00287"/>
            <a:ext cx="3492549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794225" y="3328987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Turing-</a:t>
            </a:r>
            <a:r>
              <a:rPr lang="en-US" sz="2100" b="1" i="0" u="none" strike="noStrike" cap="none" dirty="0" err="1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Completo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866775" y="3919537"/>
            <a:ext cx="29019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Com duas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pilhas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o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sistema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pode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simular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qualquer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algoritmo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computável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conhecido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572524" y="3328987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Memória</a:t>
            </a:r>
            <a:r>
              <a:rPr lang="en-US" sz="2100" b="1" i="0" u="none" strike="noStrike" cap="none" dirty="0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Infinita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45074" y="3919537"/>
            <a:ext cx="29019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Ao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contrário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do PDA simples,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não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há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restrição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acesso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símbolos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antigos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(basta mover entre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pilhas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8350749" y="3328986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E29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Decidibilidade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8128096" y="3919537"/>
            <a:ext cx="349240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implementação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algoritmos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decisão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complexos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reconhecimento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Gramáticas</a:t>
            </a:r>
            <a:r>
              <a:rPr lang="en-US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Irrestritas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7675" y="26431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794225" y="552998"/>
            <a:ext cx="116014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Poder </a:t>
            </a:r>
            <a:r>
              <a:rPr lang="en-US" sz="285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Computacional</a:t>
            </a:r>
            <a:endParaRPr sz="2850" dirty="0">
              <a:latin typeface="Berlin Sans FB Demi" panose="020E0802020502020306" pitchFamily="34" charset="0"/>
            </a:endParaRPr>
          </a:p>
        </p:txBody>
      </p:sp>
      <p:sp>
        <p:nvSpPr>
          <p:cNvPr id="4" name="Google Shape;126;p16">
            <a:extLst>
              <a:ext uri="{FF2B5EF4-FFF2-40B4-BE49-F238E27FC236}">
                <a16:creationId xmlns:a16="http://schemas.microsoft.com/office/drawing/2014/main" id="{839563F9-1376-03EF-FAE7-5784819711E2}"/>
              </a:ext>
            </a:extLst>
          </p:cNvPr>
          <p:cNvSpPr/>
          <p:nvPr/>
        </p:nvSpPr>
        <p:spPr>
          <a:xfrm>
            <a:off x="571501" y="500789"/>
            <a:ext cx="76200" cy="5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23;p16" descr="image.png">
            <a:extLst>
              <a:ext uri="{FF2B5EF4-FFF2-40B4-BE49-F238E27FC236}">
                <a16:creationId xmlns:a16="http://schemas.microsoft.com/office/drawing/2014/main" id="{6E9BE007-2FA3-EFFB-4E91-E976971AA6E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7320" y="2610830"/>
            <a:ext cx="41700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83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>
            <a:off x="571500" y="2414587"/>
            <a:ext cx="11049000" cy="29146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21"/>
          <p:cNvGraphicFramePr/>
          <p:nvPr>
            <p:extLst>
              <p:ext uri="{D42A27DB-BD31-4B8C-83A1-F6EECF244321}">
                <p14:modId xmlns:p14="http://schemas.microsoft.com/office/powerpoint/2010/main" val="900330127"/>
              </p:ext>
            </p:extLst>
          </p:nvPr>
        </p:nvGraphicFramePr>
        <p:xfrm>
          <a:off x="571500" y="2414587"/>
          <a:ext cx="11049000" cy="2914625"/>
        </p:xfrm>
        <a:graphic>
          <a:graphicData uri="http://schemas.openxmlformats.org/drawingml/2006/table">
            <a:tbl>
              <a:tblPr firstRow="1" bandRow="1">
                <a:noFill/>
                <a:tableStyleId>{80B100E6-5FE3-4F4E-B15D-0814346C4D85}</a:tableStyleId>
              </a:tblPr>
              <a:tblGrid>
                <a:gridCol w="28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6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D9488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Poppins"/>
                        </a:rPr>
                        <a:t>Modelo</a:t>
                      </a:r>
                      <a:endParaRPr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D9488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Poppins"/>
                        </a:rPr>
                        <a:t>Tipo de </a:t>
                      </a:r>
                      <a:r>
                        <a:rPr lang="en-US" sz="1200" b="1" i="0" u="none" strike="noStrike" cap="none" dirty="0" err="1">
                          <a:solidFill>
                            <a:srgbClr val="0D9488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Poppins"/>
                        </a:rPr>
                        <a:t>Memória</a:t>
                      </a:r>
                      <a:endParaRPr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D9488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Poppins"/>
                        </a:rPr>
                        <a:t>Classe de </a:t>
                      </a:r>
                      <a:r>
                        <a:rPr lang="en-US" sz="1200" b="1" i="0" u="none" strike="noStrike" cap="none" dirty="0" err="1">
                          <a:solidFill>
                            <a:srgbClr val="0D9488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Poppins"/>
                        </a:rPr>
                        <a:t>Linguagem</a:t>
                      </a:r>
                      <a:endParaRPr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0D9488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Poppins"/>
                        </a:rPr>
                        <a:t>Acesso</a:t>
                      </a:r>
                      <a:endParaRPr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Máquina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de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Estados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Finita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(FSM)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Estados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apenas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Regulares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Nenhum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Autômato de Pilha (PDA)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Pilha (LIFO)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Livres de Contexto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Topo apenas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PDA com 2 </a:t>
                      </a:r>
                      <a:r>
                        <a:rPr lang="en-US" sz="1200" b="1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Pilhas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 Pilhas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Irrestrita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(Simulando Fita)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Máquina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de Turing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Fita Infinita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Irrestrita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Bidirecional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8" name="Google Shape;198;p21"/>
          <p:cNvSpPr/>
          <p:nvPr/>
        </p:nvSpPr>
        <p:spPr>
          <a:xfrm>
            <a:off x="571500" y="3028950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389411" y="3028950"/>
            <a:ext cx="2398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87925" y="3028950"/>
            <a:ext cx="3315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9103816" y="3028950"/>
            <a:ext cx="2516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1500" y="3600450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3389411" y="3600450"/>
            <a:ext cx="2398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87925" y="3600450"/>
            <a:ext cx="3315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9103816" y="3600450"/>
            <a:ext cx="2516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71500" y="4171950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3389411" y="4171950"/>
            <a:ext cx="2398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87925" y="4171950"/>
            <a:ext cx="3315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9103816" y="4171950"/>
            <a:ext cx="2516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71500" y="4743450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3389411" y="4743450"/>
            <a:ext cx="2398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787925" y="4743450"/>
            <a:ext cx="3315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9103816" y="4743450"/>
            <a:ext cx="2516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71500" y="5314950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3389411" y="5314950"/>
            <a:ext cx="2398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787925" y="5314950"/>
            <a:ext cx="3315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9103816" y="5314950"/>
            <a:ext cx="2516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787809" y="549421"/>
            <a:ext cx="116014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Comparação</a:t>
            </a:r>
            <a:r>
              <a:rPr lang="en-US" sz="285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de </a:t>
            </a:r>
            <a:r>
              <a:rPr lang="en-US" sz="285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Modelos</a:t>
            </a:r>
            <a:endParaRPr sz="2850" dirty="0">
              <a:latin typeface="Berlin Sans FB Demi" panose="020E0802020502020306" pitchFamily="34" charset="0"/>
            </a:endParaRPr>
          </a:p>
        </p:txBody>
      </p:sp>
      <p:sp>
        <p:nvSpPr>
          <p:cNvPr id="2" name="Google Shape;126;p16">
            <a:extLst>
              <a:ext uri="{FF2B5EF4-FFF2-40B4-BE49-F238E27FC236}">
                <a16:creationId xmlns:a16="http://schemas.microsoft.com/office/drawing/2014/main" id="{FC91CA0B-F24B-5188-5D00-FCAC93CC7704}"/>
              </a:ext>
            </a:extLst>
          </p:cNvPr>
          <p:cNvSpPr/>
          <p:nvPr/>
        </p:nvSpPr>
        <p:spPr>
          <a:xfrm>
            <a:off x="571501" y="500789"/>
            <a:ext cx="76200" cy="5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768145" y="552998"/>
            <a:ext cx="116014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Hierarquia</a:t>
            </a:r>
            <a:r>
              <a:rPr lang="en-US" sz="285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 de Chomsky</a:t>
            </a:r>
            <a:endParaRPr sz="2850" dirty="0">
              <a:latin typeface="Berlin Sans FB Demi" panose="020E0802020502020306" pitchFamily="34" charset="0"/>
            </a:endParaRPr>
          </a:p>
        </p:txBody>
      </p:sp>
      <p:pic>
        <p:nvPicPr>
          <p:cNvPr id="247" name="Google Shape;24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0297" y="1706287"/>
            <a:ext cx="5289755" cy="344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6;p16">
            <a:extLst>
              <a:ext uri="{FF2B5EF4-FFF2-40B4-BE49-F238E27FC236}">
                <a16:creationId xmlns:a16="http://schemas.microsoft.com/office/drawing/2014/main" id="{67EDBF38-25FE-46F1-6D56-573AB6B37A85}"/>
              </a:ext>
            </a:extLst>
          </p:cNvPr>
          <p:cNvSpPr/>
          <p:nvPr/>
        </p:nvSpPr>
        <p:spPr>
          <a:xfrm>
            <a:off x="571501" y="500789"/>
            <a:ext cx="76200" cy="5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72A04E-2227-D25D-91B9-38AB3964436F}"/>
              </a:ext>
            </a:extLst>
          </p:cNvPr>
          <p:cNvSpPr txBox="1"/>
          <p:nvPr/>
        </p:nvSpPr>
        <p:spPr>
          <a:xfrm>
            <a:off x="647701" y="1997261"/>
            <a:ext cx="6174658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5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Gramáticas Regulares: </a:t>
            </a:r>
            <a:r>
              <a:rPr lang="pt-BR" sz="15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simuladas por FSM</a:t>
            </a:r>
            <a:endParaRPr lang="pt-BR" sz="15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8CBCCD9-A525-3586-C0D2-0C35D01BB312}"/>
              </a:ext>
            </a:extLst>
          </p:cNvPr>
          <p:cNvSpPr txBox="1"/>
          <p:nvPr/>
        </p:nvSpPr>
        <p:spPr>
          <a:xfrm>
            <a:off x="647701" y="2374324"/>
            <a:ext cx="621398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5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Gramáticas Livres de Contexto:</a:t>
            </a:r>
            <a:r>
              <a:rPr lang="pt-BR" sz="15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simuladas por PDA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AD52D4-CA12-F5DB-DA1C-E53F5D0157C2}"/>
              </a:ext>
            </a:extLst>
          </p:cNvPr>
          <p:cNvSpPr txBox="1"/>
          <p:nvPr/>
        </p:nvSpPr>
        <p:spPr>
          <a:xfrm>
            <a:off x="647701" y="2767317"/>
            <a:ext cx="621398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5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Gramáticas Sensíveis ao Contexto:</a:t>
            </a:r>
            <a:r>
              <a:rPr lang="pt-BR" sz="15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simuladas por LBA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FDDEDB-D24C-16C3-C96E-4C2824ED3835}"/>
              </a:ext>
            </a:extLst>
          </p:cNvPr>
          <p:cNvSpPr txBox="1"/>
          <p:nvPr/>
        </p:nvSpPr>
        <p:spPr>
          <a:xfrm>
            <a:off x="647701" y="3147229"/>
            <a:ext cx="621398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5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Gramáticas Irrestritas:</a:t>
            </a:r>
            <a:r>
              <a:rPr lang="pt-BR" sz="15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simuladas por Máquina de Turing</a:t>
            </a:r>
            <a:endParaRPr lang="pt-BR" sz="1500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4837D-58F9-F7F4-F47F-0DFFED14BC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199073-4A29-43F9-A0A5-0BBE70732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Google Shape;242;p23" descr="image.png">
            <a:extLst>
              <a:ext uri="{FF2B5EF4-FFF2-40B4-BE49-F238E27FC236}">
                <a16:creationId xmlns:a16="http://schemas.microsoft.com/office/drawing/2014/main" id="{14DCB59E-317E-F488-A2FA-A95FCBD1780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8FD664E-9AF7-2069-5455-3DA46D0EA370}"/>
              </a:ext>
            </a:extLst>
          </p:cNvPr>
          <p:cNvSpPr txBox="1"/>
          <p:nvPr/>
        </p:nvSpPr>
        <p:spPr>
          <a:xfrm>
            <a:off x="685800" y="500789"/>
            <a:ext cx="60960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D9488"/>
                </a:solidFill>
                <a:latin typeface="Berlin Sans FB Demi" panose="020E0802020502020306" pitchFamily="34" charset="0"/>
                <a:ea typeface="Poppins"/>
                <a:cs typeface="Poppins"/>
                <a:sym typeface="Poppins"/>
              </a:rPr>
              <a:t>Aplicações</a:t>
            </a:r>
            <a:endParaRPr lang="en-US" sz="2850" dirty="0">
              <a:latin typeface="Berlin Sans FB Demi" panose="020E0802020502020306" pitchFamily="34" charset="0"/>
            </a:endParaRPr>
          </a:p>
        </p:txBody>
      </p:sp>
      <p:sp>
        <p:nvSpPr>
          <p:cNvPr id="7" name="Google Shape;126;p16">
            <a:extLst>
              <a:ext uri="{FF2B5EF4-FFF2-40B4-BE49-F238E27FC236}">
                <a16:creationId xmlns:a16="http://schemas.microsoft.com/office/drawing/2014/main" id="{276E7A5F-0ADC-368D-17C1-CD205BC0973A}"/>
              </a:ext>
            </a:extLst>
          </p:cNvPr>
          <p:cNvSpPr/>
          <p:nvPr/>
        </p:nvSpPr>
        <p:spPr>
          <a:xfrm>
            <a:off x="571501" y="500789"/>
            <a:ext cx="76200" cy="5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E141D13-CFAF-0CED-0D82-987A579A3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98" y="1583506"/>
            <a:ext cx="3771900" cy="12573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80D5E2-4B86-CB85-D725-49E315428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4" y="1570037"/>
            <a:ext cx="3943350" cy="13335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BA4CC00-765E-6DBF-C7D7-702715C0D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174" y="3287883"/>
            <a:ext cx="3676650" cy="142875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36D81EE-CB4B-2FAF-5C0B-9CE5A64405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2220" y="3511001"/>
            <a:ext cx="2396307" cy="255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15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E1CCD-EC0C-17E8-6186-0CE5929F29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C04882-F5ED-6A64-8667-C20B36E056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Google Shape;84;p13" descr="image.png">
            <a:extLst>
              <a:ext uri="{FF2B5EF4-FFF2-40B4-BE49-F238E27FC236}">
                <a16:creationId xmlns:a16="http://schemas.microsoft.com/office/drawing/2014/main" id="{116FBA69-53D4-EAD1-F223-076AA5DBF4B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F7ED974-0246-2800-A783-2F74E0DA8DA7}"/>
              </a:ext>
            </a:extLst>
          </p:cNvPr>
          <p:cNvSpPr txBox="1"/>
          <p:nvPr/>
        </p:nvSpPr>
        <p:spPr>
          <a:xfrm>
            <a:off x="2512139" y="3010840"/>
            <a:ext cx="7167716" cy="836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i="0" u="none" strike="noStrike" cap="none" dirty="0">
                <a:solidFill>
                  <a:srgbClr val="0D9488"/>
                </a:solidFill>
                <a:latin typeface="Berlin Sans FB Demi" panose="020E0802020502020306" pitchFamily="34" charset="0"/>
                <a:ea typeface="ADLaM Display" panose="020F0502020204030204" pitchFamily="2" charset="0"/>
                <a:cs typeface="ADLaM Display" panose="020F0502020204030204" pitchFamily="2" charset="0"/>
                <a:sym typeface="Poppins"/>
              </a:rPr>
              <a:t>Obrigado pela atenção!</a:t>
            </a:r>
            <a:endParaRPr lang="pt-BR" sz="4800" dirty="0">
              <a:latin typeface="Berlin Sans FB Demi" panose="020E0802020502020306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95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685</Words>
  <Application>Microsoft Office PowerPoint</Application>
  <PresentationFormat>Widescreen</PresentationFormat>
  <Paragraphs>105</Paragraphs>
  <Slides>14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Calibri</vt:lpstr>
      <vt:lpstr>Lato</vt:lpstr>
      <vt:lpstr>Berlin Sans FB Demi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Levy Abreu</cp:lastModifiedBy>
  <cp:revision>13</cp:revision>
  <dcterms:modified xsi:type="dcterms:W3CDTF">2026-06-12T03:01:00Z</dcterms:modified>
</cp:coreProperties>
</file>