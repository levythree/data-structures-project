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62805C1-FC7F-43D6-AE20-CE41A351C394}">
  <a:tblStyle styleId="{A62805C1-FC7F-43D6-AE20-CE41A351C39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Lato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7.png"/><Relationship Id="rId6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13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785586" y="1737419"/>
            <a:ext cx="6620827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Máquinas de Turing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 usando Pilhas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105275" y="3364110"/>
            <a:ext cx="39814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Equivalência Teórica e Simulação de Fita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595812" y="4625131"/>
            <a:ext cx="3000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Seminário de </a:t>
            </a:r>
            <a:r>
              <a:rPr b="1"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Estrutura de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lang="en-US"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Dados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2890837"/>
            <a:ext cx="952500" cy="5715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3233737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Fundamentos da Computação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37576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Entendendo a ponte entre Autômatos de Pilha e o Modelo de Turing.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5"/>
          <p:cNvGrpSpPr/>
          <p:nvPr/>
        </p:nvGrpSpPr>
        <p:grpSpPr>
          <a:xfrm>
            <a:off x="571500" y="1524000"/>
            <a:ext cx="5238900" cy="4572000"/>
            <a:chOff x="571500" y="1524000"/>
            <a:chExt cx="5238900" cy="4572000"/>
          </a:xfrm>
        </p:grpSpPr>
        <p:sp>
          <p:nvSpPr>
            <p:cNvPr id="102" name="Google Shape;102;p15"/>
            <p:cNvSpPr/>
            <p:nvPr/>
          </p:nvSpPr>
          <p:spPr>
            <a:xfrm>
              <a:off x="571500" y="1524000"/>
              <a:ext cx="5238900" cy="4572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5"/>
            <p:cNvSpPr txBox="1"/>
            <p:nvPr/>
          </p:nvSpPr>
          <p:spPr>
            <a:xfrm>
              <a:off x="857250" y="1809750"/>
              <a:ext cx="4667400" cy="400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D9488"/>
                  </a:solidFill>
                  <a:latin typeface="Lato"/>
                  <a:ea typeface="Lato"/>
                  <a:cs typeface="Lato"/>
                  <a:sym typeface="Lato"/>
                </a:rPr>
                <a:t>Estrutura</a:t>
              </a:r>
              <a:endParaRPr b="1" sz="150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Um autômato finito acoplado a uma memória LIFO (Pilha).</a:t>
              </a:r>
              <a:endParaRPr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D9488"/>
                  </a:solidFill>
                  <a:latin typeface="Lato"/>
                  <a:ea typeface="Lato"/>
                  <a:cs typeface="Lato"/>
                  <a:sym typeface="Lato"/>
                </a:rPr>
                <a:t>Limitação</a:t>
              </a:r>
              <a:endParaRPr b="1" sz="150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Só pode acessar o topo da pilha.</a:t>
              </a:r>
              <a:endParaRPr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0D9488"/>
                  </a:solidFill>
                  <a:latin typeface="Lato"/>
                  <a:ea typeface="Lato"/>
                  <a:cs typeface="Lato"/>
                  <a:sym typeface="Lato"/>
                </a:rPr>
                <a:t>Poder</a:t>
              </a:r>
              <a:endParaRPr b="1" sz="150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Reconhece Linguagens Livres de Contexto (ex: aⁿbⁿ).</a:t>
              </a:r>
              <a:endParaRPr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1875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E11D48"/>
                  </a:solidFill>
                  <a:latin typeface="Lato"/>
                  <a:ea typeface="Lato"/>
                  <a:cs typeface="Lato"/>
                  <a:sym typeface="Lato"/>
                </a:rPr>
                <a:t>Problema</a:t>
              </a:r>
              <a:endParaRPr b="1" sz="1500">
                <a:solidFill>
                  <a:srgbClr val="E11D4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Não resolve linguagens sensíveis ao contexto como aⁿbⁿcⁿ.</a:t>
              </a:r>
              <a:endParaRPr sz="13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104" name="Google Shape;104;p15"/>
          <p:cNvGrpSpPr/>
          <p:nvPr/>
        </p:nvGrpSpPr>
        <p:grpSpPr>
          <a:xfrm>
            <a:off x="6381750" y="1524000"/>
            <a:ext cx="5238900" cy="4572000"/>
            <a:chOff x="6381750" y="1524000"/>
            <a:chExt cx="5238900" cy="4572000"/>
          </a:xfrm>
        </p:grpSpPr>
        <p:sp>
          <p:nvSpPr>
            <p:cNvPr id="105" name="Google Shape;105;p15"/>
            <p:cNvSpPr/>
            <p:nvPr/>
          </p:nvSpPr>
          <p:spPr>
            <a:xfrm>
              <a:off x="6381750" y="1524000"/>
              <a:ext cx="5238900" cy="45720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06" name="Google Shape;106;p15"/>
            <p:cNvPicPr preferRelativeResize="0"/>
            <p:nvPr/>
          </p:nvPicPr>
          <p:blipFill rotWithShape="1">
            <a:blip r:embed="rId4">
              <a:alphaModFix/>
            </a:blip>
            <a:srcRect b="0" l="787" r="797" t="0"/>
            <a:stretch/>
          </p:blipFill>
          <p:spPr>
            <a:xfrm>
              <a:off x="6572250" y="1714500"/>
              <a:ext cx="4857900" cy="4191000"/>
            </a:xfrm>
            <a:prstGeom prst="roundRect">
              <a:avLst>
                <a:gd fmla="val 1818" name="adj"/>
              </a:avLst>
            </a:prstGeom>
            <a:noFill/>
            <a:ln>
              <a:noFill/>
            </a:ln>
          </p:spPr>
        </p:pic>
      </p:grpSp>
      <p:sp>
        <p:nvSpPr>
          <p:cNvPr id="107" name="Google Shape;107;p15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Relembrando: Autômato de Pilha (PDA)</a:t>
            </a:r>
            <a:endParaRPr b="1" sz="3150">
              <a:solidFill>
                <a:srgbClr val="0D948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4075"/>
            <a:ext cx="5238750" cy="2714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124075"/>
            <a:ext cx="5238750" cy="27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571500" y="51244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rPr>
              <a:t>A junção das duas pilhas simula perfeitamente uma fita bidirecional infinita.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750570" y="3152775"/>
            <a:ext cx="488061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Pilha da Esquerda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866775" y="3743325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Armazena todos os símbolos à esquerda da cabeça de leitura, com o símbolo mais próximo no topo.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560820" y="3152775"/>
            <a:ext cx="488061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Pilha da Direita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677025" y="3743325"/>
            <a:ext cx="4648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Armazena o símbolo sob a cabeça de leitura e todos os símbolos à sua direita na fita.</a:t>
            </a:r>
            <a:endParaRPr/>
          </a:p>
        </p:txBody>
      </p:sp>
      <p:pic>
        <p:nvPicPr>
          <p:cNvPr descr="image.png" id="120" name="Google Shape;12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33700" y="246697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01100" y="2466975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A Ideia: Duas Pilhas = Uma Fita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" name="Google Shape;128;p17"/>
          <p:cNvGrpSpPr/>
          <p:nvPr/>
        </p:nvGrpSpPr>
        <p:grpSpPr>
          <a:xfrm>
            <a:off x="1333500" y="1524000"/>
            <a:ext cx="9525000" cy="2857500"/>
            <a:chOff x="1333500" y="1524000"/>
            <a:chExt cx="9525000" cy="2857500"/>
          </a:xfrm>
        </p:grpSpPr>
        <p:sp>
          <p:nvSpPr>
            <p:cNvPr id="129" name="Google Shape;129;p17"/>
            <p:cNvSpPr/>
            <p:nvPr/>
          </p:nvSpPr>
          <p:spPr>
            <a:xfrm>
              <a:off x="1333500" y="1524000"/>
              <a:ext cx="9525000" cy="2857500"/>
            </a:xfrm>
            <a:prstGeom prst="roundRect">
              <a:avLst>
                <a:gd fmla="val 5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 txBox="1"/>
            <p:nvPr/>
          </p:nvSpPr>
          <p:spPr>
            <a:xfrm>
              <a:off x="1809750" y="2000250"/>
              <a:ext cx="2857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0">
                  <a:solidFill>
                    <a:srgbClr val="0D9488"/>
                  </a:solidFill>
                  <a:latin typeface="Poppins"/>
                  <a:ea typeface="Poppins"/>
                  <a:cs typeface="Poppins"/>
                  <a:sym typeface="Poppins"/>
                </a:rPr>
                <a:t>2</a:t>
              </a:r>
              <a:endParaRPr b="1" sz="700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8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Pilhas</a:t>
              </a:r>
              <a:endParaRPr b="1" sz="168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1" name="Google Shape;131;p17"/>
            <p:cNvSpPr txBox="1"/>
            <p:nvPr/>
          </p:nvSpPr>
          <p:spPr>
            <a:xfrm>
              <a:off x="5619750" y="2000250"/>
              <a:ext cx="952500" cy="1905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000">
                  <a:solidFill>
                    <a:srgbClr val="0D9488"/>
                  </a:solidFill>
                  <a:latin typeface="Lato"/>
                  <a:ea typeface="Lato"/>
                  <a:cs typeface="Lato"/>
                  <a:sym typeface="Lato"/>
                </a:rPr>
                <a:t>=</a:t>
              </a:r>
              <a:endParaRPr sz="600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2" name="Google Shape;132;p17"/>
            <p:cNvSpPr txBox="1"/>
            <p:nvPr/>
          </p:nvSpPr>
          <p:spPr>
            <a:xfrm>
              <a:off x="7524750" y="2000250"/>
              <a:ext cx="2857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000">
                  <a:solidFill>
                    <a:srgbClr val="0D9488"/>
                  </a:solidFill>
                  <a:latin typeface="Poppins"/>
                  <a:ea typeface="Poppins"/>
                  <a:cs typeface="Poppins"/>
                  <a:sym typeface="Poppins"/>
                </a:rPr>
                <a:t>1</a:t>
              </a:r>
              <a:endParaRPr b="1" sz="7000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80">
                  <a:solidFill>
                    <a:srgbClr val="1E293B"/>
                  </a:solidFill>
                  <a:latin typeface="Poppins"/>
                  <a:ea typeface="Poppins"/>
                  <a:cs typeface="Poppins"/>
                  <a:sym typeface="Poppins"/>
                </a:rPr>
                <a:t>Máq. Turing</a:t>
              </a:r>
              <a:endParaRPr b="1" sz="168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grpSp>
        <p:nvGrpSpPr>
          <p:cNvPr id="133" name="Google Shape;133;p17"/>
          <p:cNvGrpSpPr/>
          <p:nvPr/>
        </p:nvGrpSpPr>
        <p:grpSpPr>
          <a:xfrm>
            <a:off x="1333500" y="4572000"/>
            <a:ext cx="9525000" cy="1524000"/>
            <a:chOff x="1333500" y="4572000"/>
            <a:chExt cx="9525000" cy="1524000"/>
          </a:xfrm>
        </p:grpSpPr>
        <p:sp>
          <p:nvSpPr>
            <p:cNvPr id="134" name="Google Shape;134;p17"/>
            <p:cNvSpPr/>
            <p:nvPr/>
          </p:nvSpPr>
          <p:spPr>
            <a:xfrm>
              <a:off x="1333500" y="4572000"/>
              <a:ext cx="9525000" cy="1524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1714500" y="4762500"/>
              <a:ext cx="8763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D9488"/>
                  </a:solidFill>
                  <a:latin typeface="Lato"/>
                  <a:ea typeface="Lato"/>
                  <a:cs typeface="Lato"/>
                  <a:sym typeface="Lato"/>
                </a:rPr>
                <a:t>Mapeamento de Configuração</a:t>
              </a:r>
              <a:endParaRPr b="1" sz="1800">
                <a:solidFill>
                  <a:srgbClr val="0D9488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Uma configuração de MT </a:t>
              </a:r>
              <a:r>
                <a:rPr b="1" lang="en-US" sz="1500">
                  <a:solidFill>
                    <a:srgbClr val="475569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uqv</a:t>
              </a:r>
              <a:r>
                <a:rPr lang="en-US" sz="1500">
                  <a:solidFill>
                    <a:srgbClr val="475569"/>
                  </a:solidFill>
                  <a:latin typeface="Lato"/>
                  <a:ea typeface="Lato"/>
                  <a:cs typeface="Lato"/>
                  <a:sym typeface="Lato"/>
                </a:rPr>
                <a:t> pode ser mapeada para:</a:t>
              </a:r>
              <a:endParaRPr sz="150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Pilha₁ = reverse(u) </a:t>
              </a:r>
              <a:r>
                <a:rPr b="0" lang="en-US" sz="1500">
                  <a:solidFill>
                    <a:srgbClr val="94A3B8"/>
                  </a:solidFill>
                  <a:latin typeface="Lato"/>
                  <a:ea typeface="Lato"/>
                  <a:cs typeface="Lato"/>
                  <a:sym typeface="Lato"/>
                </a:rPr>
                <a:t>e</a:t>
              </a:r>
              <a:r>
                <a:rPr b="1" lang="en-US" sz="1500">
                  <a:solidFill>
                    <a:srgbClr val="1E293B"/>
                  </a:solidFill>
                  <a:latin typeface="Lato"/>
                  <a:ea typeface="Lato"/>
                  <a:cs typeface="Lato"/>
                  <a:sym typeface="Lato"/>
                </a:rPr>
                <a:t> Pilha₂ = v</a:t>
              </a:r>
              <a:endParaRPr b="1" sz="1500">
                <a:solidFill>
                  <a:srgbClr val="1E293B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136" name="Google Shape;136;p17"/>
          <p:cNvSpPr txBox="1"/>
          <p:nvPr/>
        </p:nvSpPr>
        <p:spPr>
          <a:xfrm>
            <a:off x="571500" y="571500"/>
            <a:ext cx="116016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O Teorema da Equivalência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571500" y="1004887"/>
            <a:ext cx="52006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Simulando Movimentos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571500" y="208121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Para mover a cabeça de leitura para a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DIREITA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571500" y="4062412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Para mover para a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ESQUERDA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952500" y="272891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Pop do símbolo da Pilha Direita.</a:t>
            </a:r>
            <a:endParaRPr/>
          </a:p>
        </p:txBody>
      </p:sp>
      <p:sp>
        <p:nvSpPr>
          <p:cNvPr id="146" name="Google Shape;146;p18"/>
          <p:cNvSpPr txBox="1"/>
          <p:nvPr/>
        </p:nvSpPr>
        <p:spPr>
          <a:xfrm>
            <a:off x="952500" y="322421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Push desse símbolo na Pilha Esquerda.</a:t>
            </a:r>
            <a:endParaRPr/>
          </a:p>
        </p:txBody>
      </p:sp>
      <p:sp>
        <p:nvSpPr>
          <p:cNvPr id="147" name="Google Shape;147;p18"/>
          <p:cNvSpPr txBox="1"/>
          <p:nvPr/>
        </p:nvSpPr>
        <p:spPr>
          <a:xfrm>
            <a:off x="952500" y="471011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Pop do símbolo da Pilha Esquerda.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952500" y="520541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Push desse símbolo na Pilha Direita.</a:t>
            </a:r>
            <a:endParaRPr/>
          </a:p>
        </p:txBody>
      </p:sp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717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67075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752975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248275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0287"/>
            <a:ext cx="3492549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300287"/>
            <a:ext cx="3492549" cy="3143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300287"/>
            <a:ext cx="3492549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794225" y="332898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Turing-Completo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866775" y="391953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Com duas pilhas, o sistema pode simular qualquer algoritmo computável conhecido.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4572524" y="3328987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Memória Infinita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4645074" y="3919537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Ao contrário do PDA simples, não há restrição de acesso a símbolos antigos (basta mover entre pilhas).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8350824" y="3452812"/>
            <a:ext cx="304709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Decidibilidade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8423374" y="4043362"/>
            <a:ext cx="29019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Permite a implementação de algoritmos de decisão complexos e reconhecimento de LRE.</a:t>
            </a:r>
            <a:endParaRPr/>
          </a:p>
        </p:txBody>
      </p:sp>
      <p:pic>
        <p:nvPicPr>
          <p:cNvPr descr="image.png" id="168" name="Google Shape;168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17675" y="2643187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6431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88549" y="2595562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19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Poder Computacional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/>
          <p:nvPr/>
        </p:nvSpPr>
        <p:spPr>
          <a:xfrm>
            <a:off x="571500" y="2414587"/>
            <a:ext cx="11049000" cy="291465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8" name="Google Shape;178;p20"/>
          <p:cNvGraphicFramePr/>
          <p:nvPr/>
        </p:nvGraphicFramePr>
        <p:xfrm>
          <a:off x="571500" y="24145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{A62805C1-FC7F-43D6-AE20-CE41A351C394}</a:tableStyleId>
              </a:tblPr>
              <a:tblGrid>
                <a:gridCol w="2817900"/>
                <a:gridCol w="2398525"/>
                <a:gridCol w="3315900"/>
                <a:gridCol w="2516675"/>
              </a:tblGrid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D948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Modelo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D948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Tipo de Memória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D948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Classe de Linguagem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D9488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Acesso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Autômato Finito (AF)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Estados apenas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Regulares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Nenhum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Autômato de Pilha (PDA)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 Pilha (LIFO)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Livres de Contexto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Topo apenas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PDA com 2 Pilhas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 Pilhas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Recursivamente Enumeráveis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(Simulando Fita)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8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Máquina de Turing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Fita Infinita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Recursivamente Enumeráveis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Bidirecional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20"/>
          <p:cNvSpPr/>
          <p:nvPr/>
        </p:nvSpPr>
        <p:spPr>
          <a:xfrm>
            <a:off x="571500" y="3028950"/>
            <a:ext cx="2817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3389411" y="3028950"/>
            <a:ext cx="23985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5787925" y="3028950"/>
            <a:ext cx="33158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9103816" y="3028950"/>
            <a:ext cx="2516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71500" y="3600450"/>
            <a:ext cx="2817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3389411" y="3600450"/>
            <a:ext cx="23985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5787925" y="3600450"/>
            <a:ext cx="33158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9103816" y="3600450"/>
            <a:ext cx="2516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71500" y="4171950"/>
            <a:ext cx="2817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3389411" y="4171950"/>
            <a:ext cx="23985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787925" y="4171950"/>
            <a:ext cx="33158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9103816" y="4171950"/>
            <a:ext cx="2516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571500" y="4743450"/>
            <a:ext cx="2817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3389411" y="4743450"/>
            <a:ext cx="23985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787925" y="4743450"/>
            <a:ext cx="33158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9103816" y="4743450"/>
            <a:ext cx="2516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571500" y="5314950"/>
            <a:ext cx="28179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3389411" y="5314950"/>
            <a:ext cx="23985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787925" y="5314950"/>
            <a:ext cx="331589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9103816" y="5314950"/>
            <a:ext cx="25166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Comparação de Modelos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/>
          <p:nvPr/>
        </p:nvSpPr>
        <p:spPr>
          <a:xfrm>
            <a:off x="571500" y="3871912"/>
            <a:ext cx="1104900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 txBox="1"/>
          <p:nvPr/>
        </p:nvSpPr>
        <p:spPr>
          <a:xfrm>
            <a:off x="510733" y="4354710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Leitura de 'a'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4945260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Enquanto lê 'a', empilha 'X' na Pilha 1.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3383413" y="1998464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Leitura de 'b'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3444180" y="2589014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Enquanto lê 'b', empilha 'Y' na Pilha 2.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256094" y="4354710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Verificação 'c'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316860" y="4945260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Lê 'c', desempilha 'X' da P1 e 'Y' da P2 simultaneamente.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9128774" y="1693664"/>
            <a:ext cx="255219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Aceitação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9189541" y="2284214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 ambas as pilhas esvaziarem ao fim da cadeia, aceite.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Exemplo: Reconhecendo {aⁿbⁿcⁿ}</a:t>
            </a:r>
            <a:endParaRPr/>
          </a:p>
        </p:txBody>
      </p:sp>
      <p:sp>
        <p:nvSpPr>
          <p:cNvPr id="215" name="Google Shape;215;p21"/>
          <p:cNvSpPr/>
          <p:nvPr/>
        </p:nvSpPr>
        <p:spPr>
          <a:xfrm>
            <a:off x="1691580" y="37766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4564260" y="37766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7436941" y="37766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10309621" y="37766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D9488"/>
          </a:solidFill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6381750" y="2624137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O Salto de Poder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381750" y="3214687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 acréscimo de uma segunda pilha retira o modelo da zona das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Linguagens Livres de Contexto</a:t>
            </a: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 o eleva ao topo da hierarquia.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381750" y="40147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Isso demonstra que a diferença entre a "simplicidade" de um PDA e a "complexidade" de uma MT é apenas uma questão de estrutura de memória organizada.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571500" y="571500"/>
            <a:ext cx="11601450" cy="60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D9488"/>
                </a:solidFill>
                <a:latin typeface="Poppins"/>
                <a:ea typeface="Poppins"/>
                <a:cs typeface="Poppins"/>
                <a:sym typeface="Poppins"/>
              </a:rPr>
              <a:t>Hierarquia de Chomsky</a:t>
            </a:r>
            <a:endParaRPr/>
          </a:p>
        </p:txBody>
      </p:sp>
      <p:pic>
        <p:nvPicPr>
          <p:cNvPr id="228" name="Google Shape;22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1713" y="2471725"/>
            <a:ext cx="4143375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24037"/>
            <a:ext cx="11049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1809750" y="2681287"/>
            <a:ext cx="8572500" cy="1571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7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 "Podemos apenas ver uma curta distância à frente, mas podemos ver que há muito ali que precisa ser feito." 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571500" y="45386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— Alan Turing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