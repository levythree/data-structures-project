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5"/>
  </p:notesMasterIdLst>
  <p:sldIdLst>
    <p:sldId id="256" r:id="rId2"/>
    <p:sldId id="259" r:id="rId3"/>
    <p:sldId id="258" r:id="rId4"/>
    <p:sldId id="269" r:id="rId5"/>
    <p:sldId id="268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6858000" cy="9144000"/>
  <p:embeddedFontLst>
    <p:embeddedFont>
      <p:font typeface="Berlin Sans FB Demi" panose="020E0802020502020306" pitchFamily="34" charset="0"/>
      <p:bold r:id="rId16"/>
    </p:embeddedFont>
    <p:embeddedFont>
      <p:font typeface="Lato" panose="020F0502020204030203" pitchFamily="34" charset="0"/>
      <p:regular r:id="rId17"/>
      <p:bold r:id="rId18"/>
      <p:italic r:id="rId19"/>
      <p:boldItalic r:id="rId20"/>
    </p:embeddedFont>
    <p:embeddedFont>
      <p:font typeface="Poppins" panose="00000500000000000000" pitchFamily="2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0B100E6-5FE3-4F4E-B15D-0814346C4D85}">
  <a:tblStyle styleId="{80B100E6-5FE3-4F4E-B15D-0814346C4D85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e8cb87935b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g3e8cb87935b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0" name="Google Shape;25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2785585" y="2302619"/>
            <a:ext cx="6620827" cy="1625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 dirty="0" err="1">
                <a:solidFill>
                  <a:srgbClr val="0D9488"/>
                </a:solidFill>
                <a:latin typeface="Berlin Sans FB Demi" panose="020E0802020502020306" pitchFamily="34" charset="0"/>
                <a:ea typeface="ADLaM Display" panose="020F0502020204030204" pitchFamily="2" charset="0"/>
                <a:cs typeface="ADLaM Display" panose="020F0502020204030204" pitchFamily="2" charset="0"/>
                <a:sym typeface="Poppins"/>
              </a:rPr>
              <a:t>Máquina</a:t>
            </a:r>
            <a:r>
              <a:rPr lang="en-US" sz="4800" b="1" i="0" u="none" strike="noStrike" cap="none" dirty="0">
                <a:solidFill>
                  <a:srgbClr val="0D9488"/>
                </a:solidFill>
                <a:latin typeface="Berlin Sans FB Demi" panose="020E0802020502020306" pitchFamily="34" charset="0"/>
                <a:ea typeface="ADLaM Display" panose="020F0502020204030204" pitchFamily="2" charset="0"/>
                <a:cs typeface="ADLaM Display" panose="020F0502020204030204" pitchFamily="2" charset="0"/>
                <a:sym typeface="Poppins"/>
              </a:rPr>
              <a:t> de Turing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Berlin Sans FB Demi" panose="020E0802020502020306" pitchFamily="34" charset="0"/>
                <a:ea typeface="ADLaM Display" panose="020F0502020204030204" pitchFamily="2" charset="0"/>
                <a:cs typeface="ADLaM Display" panose="020F0502020204030204" pitchFamily="2" charset="0"/>
                <a:sym typeface="Calibri"/>
              </a:rPr>
            </a:br>
            <a:r>
              <a:rPr lang="en-US" sz="4800" b="1" i="0" u="none" strike="noStrike" cap="none" dirty="0">
                <a:solidFill>
                  <a:srgbClr val="0D9488"/>
                </a:solidFill>
                <a:latin typeface="Berlin Sans FB Demi" panose="020E0802020502020306" pitchFamily="34" charset="0"/>
                <a:ea typeface="ADLaM Display" panose="020F0502020204030204" pitchFamily="2" charset="0"/>
                <a:cs typeface="ADLaM Display" panose="020F0502020204030204" pitchFamily="2" charset="0"/>
                <a:sym typeface="Poppins"/>
              </a:rPr>
              <a:t> </a:t>
            </a:r>
            <a:r>
              <a:rPr lang="en-US" sz="4800" b="1" i="0" u="none" strike="noStrike" cap="none" dirty="0" err="1">
                <a:solidFill>
                  <a:srgbClr val="0D9488"/>
                </a:solidFill>
                <a:latin typeface="Berlin Sans FB Demi" panose="020E0802020502020306" pitchFamily="34" charset="0"/>
                <a:ea typeface="ADLaM Display" panose="020F0502020204030204" pitchFamily="2" charset="0"/>
                <a:cs typeface="ADLaM Display" panose="020F0502020204030204" pitchFamily="2" charset="0"/>
                <a:sym typeface="Poppins"/>
              </a:rPr>
              <a:t>usa</a:t>
            </a:r>
            <a:r>
              <a:rPr lang="en-US" sz="4800" b="1" dirty="0" err="1">
                <a:solidFill>
                  <a:srgbClr val="0D9488"/>
                </a:solidFill>
                <a:latin typeface="Berlin Sans FB Demi" panose="020E0802020502020306" pitchFamily="34" charset="0"/>
                <a:ea typeface="ADLaM Display" panose="020F0502020204030204" pitchFamily="2" charset="0"/>
                <a:cs typeface="ADLaM Display" panose="020F0502020204030204" pitchFamily="2" charset="0"/>
                <a:sym typeface="Poppins"/>
              </a:rPr>
              <a:t>n</a:t>
            </a:r>
            <a:r>
              <a:rPr lang="en-US" sz="4800" b="1" i="0" u="none" strike="noStrike" cap="none" dirty="0" err="1">
                <a:solidFill>
                  <a:srgbClr val="0D9488"/>
                </a:solidFill>
                <a:latin typeface="Berlin Sans FB Demi" panose="020E0802020502020306" pitchFamily="34" charset="0"/>
                <a:ea typeface="ADLaM Display" panose="020F0502020204030204" pitchFamily="2" charset="0"/>
                <a:cs typeface="ADLaM Display" panose="020F0502020204030204" pitchFamily="2" charset="0"/>
                <a:sym typeface="Poppins"/>
              </a:rPr>
              <a:t>do</a:t>
            </a:r>
            <a:r>
              <a:rPr lang="en-US" sz="4800" b="1" i="0" u="none" strike="noStrike" cap="none" dirty="0">
                <a:solidFill>
                  <a:srgbClr val="0D9488"/>
                </a:solidFill>
                <a:latin typeface="Berlin Sans FB Demi" panose="020E0802020502020306" pitchFamily="34" charset="0"/>
                <a:ea typeface="ADLaM Display" panose="020F0502020204030204" pitchFamily="2" charset="0"/>
                <a:cs typeface="ADLaM Display" panose="020F0502020204030204" pitchFamily="2" charset="0"/>
                <a:sym typeface="Poppins"/>
              </a:rPr>
              <a:t> </a:t>
            </a:r>
            <a:r>
              <a:rPr lang="en-US" sz="4800" b="1" i="0" u="none" strike="noStrike" cap="none" dirty="0" err="1">
                <a:solidFill>
                  <a:srgbClr val="0D9488"/>
                </a:solidFill>
                <a:latin typeface="Berlin Sans FB Demi" panose="020E0802020502020306" pitchFamily="34" charset="0"/>
                <a:ea typeface="ADLaM Display" panose="020F0502020204030204" pitchFamily="2" charset="0"/>
                <a:cs typeface="ADLaM Display" panose="020F0502020204030204" pitchFamily="2" charset="0"/>
                <a:sym typeface="Poppins"/>
              </a:rPr>
              <a:t>Pilhas</a:t>
            </a:r>
            <a:endParaRPr dirty="0">
              <a:latin typeface="Berlin Sans FB Demi" panose="020E0802020502020306" pitchFamily="34" charset="0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4179743" y="4056945"/>
            <a:ext cx="383250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ECOM008 - </a:t>
            </a:r>
            <a:r>
              <a:rPr lang="en-US" sz="1500" b="1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Estrutura</a:t>
            </a:r>
            <a:r>
              <a:rPr lang="en-US" sz="1500" b="1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de</a:t>
            </a:r>
            <a:r>
              <a:rPr lang="en-US" sz="1500" b="1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1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Dados</a:t>
            </a:r>
            <a:endParaRPr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7AB065F0-B59A-8929-C54D-85DCB6BD8EF9}"/>
              </a:ext>
            </a:extLst>
          </p:cNvPr>
          <p:cNvSpPr txBox="1"/>
          <p:nvPr/>
        </p:nvSpPr>
        <p:spPr>
          <a:xfrm>
            <a:off x="4724397" y="5462802"/>
            <a:ext cx="2743201" cy="11489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dirty="0">
                <a:latin typeface="Lato" panose="020F0502020204030204" pitchFamily="34" charset="0"/>
                <a:ea typeface="Lato" panose="020F0502020204030204" pitchFamily="34" charset="0"/>
                <a:cs typeface="Lato" panose="020F0502020204030204" pitchFamily="34" charset="0"/>
              </a:rPr>
              <a:t>Levy Abreu Cavalcante</a:t>
            </a:r>
          </a:p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dirty="0">
                <a:latin typeface="Lato" panose="020F0502020204030204" pitchFamily="34" charset="0"/>
                <a:ea typeface="Lato" panose="020F0502020204030204" pitchFamily="34" charset="0"/>
                <a:cs typeface="Lato" panose="020F0502020204030204" pitchFamily="34" charset="0"/>
              </a:rPr>
              <a:t>Helder </a:t>
            </a:r>
            <a:r>
              <a:rPr lang="pt-BR" sz="1500" b="1" dirty="0" err="1">
                <a:latin typeface="Lato" panose="020F0502020204030204" pitchFamily="34" charset="0"/>
                <a:ea typeface="Lato" panose="020F0502020204030204" pitchFamily="34" charset="0"/>
                <a:cs typeface="Lato" panose="020F0502020204030204" pitchFamily="34" charset="0"/>
              </a:rPr>
              <a:t>Nicollas</a:t>
            </a:r>
            <a:r>
              <a:rPr lang="pt-BR" sz="1500" b="1" dirty="0">
                <a:latin typeface="Lato" panose="020F0502020204030204" pitchFamily="34" charset="0"/>
                <a:ea typeface="Lato" panose="020F0502020204030204" pitchFamily="34" charset="0"/>
                <a:cs typeface="Lato" panose="020F0502020204030204" pitchFamily="34" charset="0"/>
              </a:rPr>
              <a:t> Leão Peixoto</a:t>
            </a:r>
          </a:p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dirty="0">
                <a:latin typeface="Lato" panose="020F0502020204030204" pitchFamily="34" charset="0"/>
                <a:ea typeface="Lato" panose="020F0502020204030204" pitchFamily="34" charset="0"/>
                <a:cs typeface="Lato" panose="020F0502020204030204" pitchFamily="34" charset="0"/>
              </a:rPr>
              <a:t>Rafael Luiz Bandeira Almeida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65E0B9B1-322D-86E5-2ED5-D2399A5815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5506" y="64633"/>
            <a:ext cx="1700982" cy="217335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224087"/>
            <a:ext cx="5286375" cy="333375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/>
        </p:nvSpPr>
        <p:spPr>
          <a:xfrm>
            <a:off x="545363" y="2403458"/>
            <a:ext cx="55506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0F172A"/>
                </a:solidFill>
                <a:latin typeface="Berlin Sans FB Demi" panose="020E0802020502020306" pitchFamily="34" charset="0"/>
                <a:ea typeface="Poppins"/>
                <a:cs typeface="Poppins"/>
                <a:sym typeface="Poppins"/>
              </a:rPr>
              <a:t>Como </a:t>
            </a:r>
            <a:r>
              <a:rPr lang="en-US" sz="2100" b="1" i="0" u="none" strike="noStrike" cap="none" dirty="0" err="1">
                <a:solidFill>
                  <a:srgbClr val="0F172A"/>
                </a:solidFill>
                <a:latin typeface="Berlin Sans FB Demi" panose="020E0802020502020306" pitchFamily="34" charset="0"/>
                <a:ea typeface="Poppins"/>
                <a:cs typeface="Poppins"/>
                <a:sym typeface="Poppins"/>
              </a:rPr>
              <a:t>funciona</a:t>
            </a:r>
            <a:r>
              <a:rPr lang="en-US" sz="2100" b="1" i="0" u="none" strike="noStrike" cap="none" dirty="0">
                <a:solidFill>
                  <a:srgbClr val="0F172A"/>
                </a:solidFill>
                <a:latin typeface="Berlin Sans FB Demi" panose="020E0802020502020306" pitchFamily="34" charset="0"/>
                <a:ea typeface="Poppins"/>
                <a:cs typeface="Poppins"/>
                <a:sym typeface="Poppins"/>
              </a:rPr>
              <a:t>?</a:t>
            </a:r>
            <a:endParaRPr dirty="0">
              <a:latin typeface="Berlin Sans FB Demi" panose="020E0802020502020306" pitchFamily="34" charset="0"/>
            </a:endParaRPr>
          </a:p>
        </p:txBody>
      </p:sp>
      <p:pic>
        <p:nvPicPr>
          <p:cNvPr id="115" name="Google Shape;115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43650" y="2233612"/>
            <a:ext cx="5267325" cy="33147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6"/>
          <p:cNvSpPr txBox="1"/>
          <p:nvPr/>
        </p:nvSpPr>
        <p:spPr>
          <a:xfrm>
            <a:off x="952500" y="2876550"/>
            <a:ext cx="4905300" cy="692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Sem </a:t>
            </a:r>
            <a:r>
              <a:rPr lang="en-US" sz="1500" b="1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Memória</a:t>
            </a:r>
            <a:r>
              <a:rPr lang="en-US" sz="1500" b="1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 Externa: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memória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é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restrita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apenas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ao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estado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atual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dirty="0"/>
          </a:p>
        </p:txBody>
      </p:sp>
      <p:sp>
        <p:nvSpPr>
          <p:cNvPr id="117" name="Google Shape;117;p16"/>
          <p:cNvSpPr txBox="1"/>
          <p:nvPr/>
        </p:nvSpPr>
        <p:spPr>
          <a:xfrm>
            <a:off x="952500" y="3590925"/>
            <a:ext cx="4905300" cy="692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Linguagens</a:t>
            </a:r>
            <a:r>
              <a:rPr lang="en-US" sz="1500" b="1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1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Regulares</a:t>
            </a:r>
            <a:r>
              <a:rPr lang="en-US" sz="1500" b="1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: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Reconhece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padrões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simples (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Expressões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Regulares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).</a:t>
            </a:r>
            <a:endParaRPr dirty="0"/>
          </a:p>
        </p:txBody>
      </p:sp>
      <p:sp>
        <p:nvSpPr>
          <p:cNvPr id="118" name="Google Shape;118;p16"/>
          <p:cNvSpPr txBox="1"/>
          <p:nvPr/>
        </p:nvSpPr>
        <p:spPr>
          <a:xfrm>
            <a:off x="952500" y="4305300"/>
            <a:ext cx="4905300" cy="692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Componentes</a:t>
            </a:r>
            <a:r>
              <a:rPr lang="en-US" sz="1500" b="1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: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Definida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por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Estados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(Q),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Alfabeto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(Σ) e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Transições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(δ).</a:t>
            </a:r>
            <a:endParaRPr dirty="0"/>
          </a:p>
        </p:txBody>
      </p:sp>
      <p:sp>
        <p:nvSpPr>
          <p:cNvPr id="119" name="Google Shape;119;p16"/>
          <p:cNvSpPr txBox="1"/>
          <p:nvPr/>
        </p:nvSpPr>
        <p:spPr>
          <a:xfrm>
            <a:off x="952500" y="5019675"/>
            <a:ext cx="4905300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en-US" sz="1500" b="1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Limitação</a:t>
            </a:r>
            <a:r>
              <a:rPr lang="en-US" sz="1500" b="1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: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Não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consegue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contar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infinitamente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(ex: </a:t>
            </a:r>
            <a:r>
              <a:rPr lang="en-US" sz="1500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aⁿbⁿ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).</a:t>
            </a:r>
            <a:endParaRPr dirty="0"/>
          </a:p>
        </p:txBody>
      </p:sp>
      <p:pic>
        <p:nvPicPr>
          <p:cNvPr id="121" name="Google Shape;121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290988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0" y="3624262"/>
            <a:ext cx="2381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71500" y="433863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16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571500" y="5053012"/>
            <a:ext cx="19050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16"/>
          <p:cNvSpPr txBox="1"/>
          <p:nvPr/>
        </p:nvSpPr>
        <p:spPr>
          <a:xfrm>
            <a:off x="762000" y="883020"/>
            <a:ext cx="11401500" cy="4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 dirty="0" err="1">
                <a:solidFill>
                  <a:srgbClr val="0D9488"/>
                </a:solidFill>
                <a:latin typeface="Berlin Sans FB Demi" panose="020E0802020502020306" pitchFamily="34" charset="0"/>
                <a:ea typeface="Poppins"/>
                <a:cs typeface="Poppins"/>
                <a:sym typeface="Poppins"/>
              </a:rPr>
              <a:t>Máquina</a:t>
            </a:r>
            <a:r>
              <a:rPr lang="en-US" sz="2850" b="1" i="0" u="none" strike="noStrike" cap="none" dirty="0">
                <a:solidFill>
                  <a:srgbClr val="0D9488"/>
                </a:solidFill>
                <a:latin typeface="Berlin Sans FB Demi" panose="020E0802020502020306" pitchFamily="34" charset="0"/>
                <a:ea typeface="Poppins"/>
                <a:cs typeface="Poppins"/>
                <a:sym typeface="Poppins"/>
              </a:rPr>
              <a:t> de </a:t>
            </a:r>
            <a:r>
              <a:rPr lang="en-US" sz="2850" b="1" i="0" u="none" strike="noStrike" cap="none" dirty="0" err="1">
                <a:solidFill>
                  <a:srgbClr val="0D9488"/>
                </a:solidFill>
                <a:latin typeface="Berlin Sans FB Demi" panose="020E0802020502020306" pitchFamily="34" charset="0"/>
                <a:ea typeface="Poppins"/>
                <a:cs typeface="Poppins"/>
                <a:sym typeface="Poppins"/>
              </a:rPr>
              <a:t>Estados</a:t>
            </a:r>
            <a:r>
              <a:rPr lang="en-US" sz="2850" b="1" i="0" u="none" strike="noStrike" cap="none" dirty="0">
                <a:solidFill>
                  <a:srgbClr val="0D9488"/>
                </a:solidFill>
                <a:latin typeface="Berlin Sans FB Demi" panose="020E0802020502020306" pitchFamily="34" charset="0"/>
                <a:ea typeface="Poppins"/>
                <a:cs typeface="Poppins"/>
                <a:sym typeface="Poppins"/>
              </a:rPr>
              <a:t> </a:t>
            </a:r>
            <a:r>
              <a:rPr lang="en-US" sz="2850" b="1" i="0" u="none" strike="noStrike" cap="none" dirty="0" err="1">
                <a:solidFill>
                  <a:srgbClr val="0D9488"/>
                </a:solidFill>
                <a:latin typeface="Berlin Sans FB Demi" panose="020E0802020502020306" pitchFamily="34" charset="0"/>
                <a:ea typeface="Poppins"/>
                <a:cs typeface="Poppins"/>
                <a:sym typeface="Poppins"/>
              </a:rPr>
              <a:t>Finitos</a:t>
            </a:r>
            <a:r>
              <a:rPr lang="en-US" sz="2850" b="1" i="0" u="none" strike="noStrike" cap="none" dirty="0">
                <a:solidFill>
                  <a:srgbClr val="0D9488"/>
                </a:solidFill>
                <a:latin typeface="Berlin Sans FB Demi" panose="020E0802020502020306" pitchFamily="34" charset="0"/>
                <a:ea typeface="Poppins"/>
                <a:cs typeface="Poppins"/>
                <a:sym typeface="Poppins"/>
              </a:rPr>
              <a:t> (FSM)</a:t>
            </a:r>
            <a:endParaRPr dirty="0">
              <a:latin typeface="Berlin Sans FB Demi" panose="020E0802020502020306" pitchFamily="34" charset="0"/>
            </a:endParaRPr>
          </a:p>
        </p:txBody>
      </p:sp>
      <p:sp>
        <p:nvSpPr>
          <p:cNvPr id="126" name="Google Shape;126;p16"/>
          <p:cNvSpPr/>
          <p:nvPr/>
        </p:nvSpPr>
        <p:spPr>
          <a:xfrm>
            <a:off x="571500" y="830820"/>
            <a:ext cx="76200" cy="543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1" name="Google Shape;101;p15"/>
          <p:cNvGrpSpPr/>
          <p:nvPr/>
        </p:nvGrpSpPr>
        <p:grpSpPr>
          <a:xfrm>
            <a:off x="213238" y="2480157"/>
            <a:ext cx="5978013" cy="2050085"/>
            <a:chOff x="453998" y="1210046"/>
            <a:chExt cx="5616498" cy="4547994"/>
          </a:xfrm>
        </p:grpSpPr>
        <p:sp>
          <p:nvSpPr>
            <p:cNvPr id="102" name="Google Shape;102;p15"/>
            <p:cNvSpPr/>
            <p:nvPr/>
          </p:nvSpPr>
          <p:spPr>
            <a:xfrm>
              <a:off x="453998" y="1210046"/>
              <a:ext cx="5616498" cy="4264435"/>
            </a:xfrm>
            <a:prstGeom prst="roundRect">
              <a:avLst>
                <a:gd name="adj" fmla="val 3333"/>
              </a:avLst>
            </a:prstGeom>
            <a:solidFill>
              <a:srgbClr val="FFFFFF"/>
            </a:solidFill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103" name="Google Shape;103;p15"/>
            <p:cNvSpPr txBox="1"/>
            <p:nvPr/>
          </p:nvSpPr>
          <p:spPr>
            <a:xfrm>
              <a:off x="571500" y="1493605"/>
              <a:ext cx="5498996" cy="426443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dirty="0" err="1">
                  <a:solidFill>
                    <a:schemeClr val="tx1"/>
                  </a:solidFill>
                  <a:latin typeface="Lato"/>
                  <a:ea typeface="Lato"/>
                  <a:cs typeface="Lato"/>
                  <a:sym typeface="Lato"/>
                </a:rPr>
                <a:t>Estrutura</a:t>
              </a:r>
              <a:r>
                <a:rPr lang="en-US" sz="1500" b="1" dirty="0">
                  <a:solidFill>
                    <a:schemeClr val="tx1"/>
                  </a:solidFill>
                  <a:latin typeface="Lato"/>
                  <a:ea typeface="Lato"/>
                  <a:cs typeface="Lato"/>
                  <a:sym typeface="Lato"/>
                </a:rPr>
                <a:t>: </a:t>
              </a:r>
              <a:r>
                <a:rPr lang="en-US" sz="1500" dirty="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Um </a:t>
              </a:r>
              <a:r>
                <a:rPr lang="en-US" sz="1500" dirty="0" err="1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autômato</a:t>
              </a:r>
              <a:r>
                <a:rPr lang="en-US" sz="1500" dirty="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 finito </a:t>
              </a:r>
              <a:r>
                <a:rPr lang="en-US" sz="1500" dirty="0" err="1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acoplado</a:t>
              </a:r>
              <a:r>
                <a:rPr lang="en-US" sz="1500" dirty="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 a </a:t>
              </a:r>
              <a:r>
                <a:rPr lang="en-US" sz="1500" dirty="0" err="1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uma</a:t>
              </a:r>
              <a:r>
                <a:rPr lang="en-US" sz="1500" dirty="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 </a:t>
              </a:r>
              <a:r>
                <a:rPr lang="en-US" sz="1500" dirty="0" err="1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memória</a:t>
              </a:r>
              <a:r>
                <a:rPr lang="en-US" sz="1500" dirty="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 LIFO (</a:t>
              </a:r>
              <a:r>
                <a:rPr lang="en-US" sz="1500" dirty="0" err="1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Pilha</a:t>
              </a:r>
              <a:r>
                <a:rPr lang="en-US" sz="1500" dirty="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).</a:t>
              </a:r>
              <a:endParaRPr sz="1500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marL="0" lvl="0" indent="0" algn="l" rtl="0">
                <a:spcBef>
                  <a:spcPts val="1875"/>
                </a:spcBef>
                <a:spcAft>
                  <a:spcPts val="0"/>
                </a:spcAft>
                <a:buNone/>
              </a:pPr>
              <a:r>
                <a:rPr lang="en-US" sz="1500" b="1" dirty="0" err="1">
                  <a:solidFill>
                    <a:schemeClr val="tx1"/>
                  </a:solidFill>
                  <a:latin typeface="Lato"/>
                  <a:ea typeface="Lato"/>
                  <a:cs typeface="Lato"/>
                  <a:sym typeface="Lato"/>
                </a:rPr>
                <a:t>Limitação</a:t>
              </a:r>
              <a:r>
                <a:rPr lang="en-US" sz="1500" b="1" dirty="0">
                  <a:solidFill>
                    <a:schemeClr val="tx1"/>
                  </a:solidFill>
                  <a:latin typeface="Lato"/>
                  <a:ea typeface="Lato"/>
                  <a:cs typeface="Lato"/>
                  <a:sym typeface="Lato"/>
                </a:rPr>
                <a:t>: </a:t>
              </a:r>
              <a:r>
                <a:rPr lang="en-US" sz="1500" dirty="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Só </a:t>
              </a:r>
              <a:r>
                <a:rPr lang="en-US" sz="1500" dirty="0" err="1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pode</a:t>
              </a:r>
              <a:r>
                <a:rPr lang="en-US" sz="1500" dirty="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 </a:t>
              </a:r>
              <a:r>
                <a:rPr lang="en-US" sz="1500" dirty="0" err="1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acessar</a:t>
              </a:r>
              <a:r>
                <a:rPr lang="en-US" sz="1500" dirty="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 o topo da </a:t>
              </a:r>
              <a:r>
                <a:rPr lang="en-US" sz="1500" dirty="0" err="1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pilha</a:t>
              </a:r>
              <a:r>
                <a:rPr lang="en-US" sz="1500" dirty="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.</a:t>
              </a:r>
              <a:endParaRPr sz="1500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marL="0" lvl="0" indent="0" algn="l" rtl="0">
                <a:spcBef>
                  <a:spcPts val="1875"/>
                </a:spcBef>
                <a:spcAft>
                  <a:spcPts val="0"/>
                </a:spcAft>
                <a:buNone/>
              </a:pPr>
              <a:r>
                <a:rPr lang="en-US" sz="1500" b="1" dirty="0">
                  <a:solidFill>
                    <a:schemeClr val="tx1"/>
                  </a:solidFill>
                  <a:latin typeface="Lato"/>
                  <a:ea typeface="Lato"/>
                  <a:cs typeface="Lato"/>
                  <a:sym typeface="Lato"/>
                </a:rPr>
                <a:t>Poder: </a:t>
              </a:r>
              <a:r>
                <a:rPr lang="en-US" sz="1500" dirty="0" err="1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Reconhece</a:t>
              </a:r>
              <a:r>
                <a:rPr lang="en-US" sz="1500" dirty="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 </a:t>
              </a:r>
              <a:r>
                <a:rPr lang="en-US" sz="1500" dirty="0" err="1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Linguagens</a:t>
              </a:r>
              <a:r>
                <a:rPr lang="en-US" sz="1500" dirty="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 Livres de </a:t>
              </a:r>
              <a:r>
                <a:rPr lang="en-US" sz="1500" dirty="0" err="1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Contexto</a:t>
              </a:r>
              <a:r>
                <a:rPr lang="en-US" sz="1500" dirty="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 (ex: aⁿbⁿ).</a:t>
              </a:r>
              <a:endParaRPr sz="1500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marL="0" lvl="0" indent="0" algn="l" rtl="0">
                <a:spcBef>
                  <a:spcPts val="1875"/>
                </a:spcBef>
                <a:spcAft>
                  <a:spcPts val="0"/>
                </a:spcAft>
                <a:buNone/>
              </a:pPr>
              <a:r>
                <a:rPr lang="en-US" sz="1500" b="1" dirty="0" err="1">
                  <a:solidFill>
                    <a:schemeClr val="tx1"/>
                  </a:solidFill>
                  <a:latin typeface="Lato"/>
                  <a:ea typeface="Lato"/>
                  <a:cs typeface="Lato"/>
                  <a:sym typeface="Lato"/>
                </a:rPr>
                <a:t>Problema</a:t>
              </a:r>
              <a:r>
                <a:rPr lang="en-US" sz="1500" b="1" dirty="0">
                  <a:solidFill>
                    <a:schemeClr val="tx1"/>
                  </a:solidFill>
                  <a:latin typeface="Lato"/>
                  <a:ea typeface="Lato"/>
                  <a:cs typeface="Lato"/>
                  <a:sym typeface="Lato"/>
                </a:rPr>
                <a:t>: </a:t>
              </a:r>
              <a:r>
                <a:rPr lang="en-US" sz="1500" dirty="0" err="1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Não</a:t>
              </a:r>
              <a:r>
                <a:rPr lang="en-US" sz="1500" dirty="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 resolve </a:t>
              </a:r>
              <a:r>
                <a:rPr lang="en-US" sz="1500" dirty="0" err="1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linguagens</a:t>
              </a:r>
              <a:r>
                <a:rPr lang="en-US" sz="1500" dirty="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 </a:t>
              </a:r>
              <a:r>
                <a:rPr lang="en-US" sz="1500" dirty="0" err="1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sensíveis</a:t>
              </a:r>
              <a:r>
                <a:rPr lang="en-US" sz="1500" dirty="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 </a:t>
              </a:r>
              <a:r>
                <a:rPr lang="en-US" sz="1500" dirty="0" err="1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ao</a:t>
              </a:r>
              <a:r>
                <a:rPr lang="en-US" sz="1500" dirty="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 </a:t>
              </a:r>
              <a:r>
                <a:rPr lang="en-US" sz="1500" dirty="0" err="1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contexto</a:t>
              </a:r>
              <a:r>
                <a:rPr lang="en-US" sz="1500" dirty="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 </a:t>
              </a:r>
              <a:r>
                <a:rPr lang="en-US" sz="1500" dirty="0" err="1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como</a:t>
              </a:r>
              <a:r>
                <a:rPr lang="en-US" sz="1500" dirty="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 aⁿbⁿcⁿ.</a:t>
              </a:r>
              <a:endParaRPr sz="1500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grpSp>
        <p:nvGrpSpPr>
          <p:cNvPr id="104" name="Google Shape;104;p15"/>
          <p:cNvGrpSpPr/>
          <p:nvPr/>
        </p:nvGrpSpPr>
        <p:grpSpPr>
          <a:xfrm>
            <a:off x="6529554" y="1283109"/>
            <a:ext cx="5238900" cy="4572000"/>
            <a:chOff x="6381750" y="1524000"/>
            <a:chExt cx="5238900" cy="4572000"/>
          </a:xfrm>
        </p:grpSpPr>
        <p:sp>
          <p:nvSpPr>
            <p:cNvPr id="105" name="Google Shape;105;p15"/>
            <p:cNvSpPr/>
            <p:nvPr/>
          </p:nvSpPr>
          <p:spPr>
            <a:xfrm>
              <a:off x="6381750" y="1524000"/>
              <a:ext cx="5238900" cy="4572000"/>
            </a:xfrm>
            <a:prstGeom prst="roundRect">
              <a:avLst>
                <a:gd name="adj" fmla="val 3333"/>
              </a:avLst>
            </a:prstGeom>
            <a:solidFill>
              <a:srgbClr val="F8FAFC"/>
            </a:solidFill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06" name="Google Shape;106;p15"/>
            <p:cNvPicPr preferRelativeResize="0"/>
            <p:nvPr/>
          </p:nvPicPr>
          <p:blipFill rotWithShape="1">
            <a:blip r:embed="rId4">
              <a:alphaModFix/>
            </a:blip>
            <a:srcRect l="787" r="797"/>
            <a:stretch/>
          </p:blipFill>
          <p:spPr>
            <a:xfrm>
              <a:off x="6572250" y="1714500"/>
              <a:ext cx="4857900" cy="4191000"/>
            </a:xfrm>
            <a:prstGeom prst="roundRect">
              <a:avLst>
                <a:gd name="adj" fmla="val 1818"/>
              </a:avLst>
            </a:prstGeom>
            <a:noFill/>
            <a:ln>
              <a:noFill/>
            </a:ln>
          </p:spPr>
        </p:pic>
      </p:grpSp>
      <p:sp>
        <p:nvSpPr>
          <p:cNvPr id="107" name="Google Shape;107;p15"/>
          <p:cNvSpPr txBox="1"/>
          <p:nvPr/>
        </p:nvSpPr>
        <p:spPr>
          <a:xfrm>
            <a:off x="778592" y="552998"/>
            <a:ext cx="4364294" cy="438582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dirty="0" err="1">
                <a:solidFill>
                  <a:srgbClr val="0D9488"/>
                </a:solidFill>
                <a:latin typeface="Berlin Sans FB Demi" panose="020E0802020502020306" pitchFamily="34" charset="0"/>
                <a:ea typeface="Poppins"/>
                <a:cs typeface="Poppins"/>
                <a:sym typeface="Poppins"/>
              </a:rPr>
              <a:t>Autômato</a:t>
            </a:r>
            <a:r>
              <a:rPr lang="en-US" sz="2850" b="1" dirty="0">
                <a:solidFill>
                  <a:srgbClr val="0D9488"/>
                </a:solidFill>
                <a:latin typeface="Berlin Sans FB Demi" panose="020E0802020502020306" pitchFamily="34" charset="0"/>
                <a:ea typeface="Poppins"/>
                <a:cs typeface="Poppins"/>
                <a:sym typeface="Poppins"/>
              </a:rPr>
              <a:t> de </a:t>
            </a:r>
            <a:r>
              <a:rPr lang="en-US" sz="2850" b="1" dirty="0" err="1">
                <a:solidFill>
                  <a:srgbClr val="0D9488"/>
                </a:solidFill>
                <a:latin typeface="Berlin Sans FB Demi" panose="020E0802020502020306" pitchFamily="34" charset="0"/>
                <a:ea typeface="Poppins"/>
                <a:cs typeface="Poppins"/>
                <a:sym typeface="Poppins"/>
              </a:rPr>
              <a:t>Pilha</a:t>
            </a:r>
            <a:r>
              <a:rPr lang="en-US" sz="2850" b="1" dirty="0">
                <a:solidFill>
                  <a:srgbClr val="0D9488"/>
                </a:solidFill>
                <a:latin typeface="Berlin Sans FB Demi" panose="020E0802020502020306" pitchFamily="34" charset="0"/>
                <a:ea typeface="Poppins"/>
                <a:cs typeface="Poppins"/>
                <a:sym typeface="Poppins"/>
              </a:rPr>
              <a:t> (PDA)</a:t>
            </a:r>
            <a:endParaRPr sz="2850" b="1" dirty="0">
              <a:solidFill>
                <a:srgbClr val="0D9488"/>
              </a:solidFill>
              <a:latin typeface="Berlin Sans FB Demi" panose="020E0802020502020306" pitchFamily="34" charset="0"/>
              <a:ea typeface="Poppins"/>
              <a:cs typeface="Poppins"/>
              <a:sym typeface="Poppins"/>
            </a:endParaRPr>
          </a:p>
        </p:txBody>
      </p:sp>
      <p:sp>
        <p:nvSpPr>
          <p:cNvPr id="2" name="Google Shape;126;p16">
            <a:extLst>
              <a:ext uri="{FF2B5EF4-FFF2-40B4-BE49-F238E27FC236}">
                <a16:creationId xmlns:a16="http://schemas.microsoft.com/office/drawing/2014/main" id="{6A0C2C10-300C-1F43-6B5B-768D0246A8DC}"/>
              </a:ext>
            </a:extLst>
          </p:cNvPr>
          <p:cNvSpPr/>
          <p:nvPr/>
        </p:nvSpPr>
        <p:spPr>
          <a:xfrm>
            <a:off x="571501" y="500789"/>
            <a:ext cx="76200" cy="543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603D79-BCF9-2E04-6684-2C8035C7C6B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9F06CE7-757C-44FB-ECF8-E8F18153CFC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Google Shape;131;p17" descr="image.png">
            <a:extLst>
              <a:ext uri="{FF2B5EF4-FFF2-40B4-BE49-F238E27FC236}">
                <a16:creationId xmlns:a16="http://schemas.microsoft.com/office/drawing/2014/main" id="{652DF4C5-342C-07B2-83A1-126F84BC0C5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FF7E1165-402F-2599-B0F2-170C1A9035FA}"/>
              </a:ext>
            </a:extLst>
          </p:cNvPr>
          <p:cNvSpPr txBox="1"/>
          <p:nvPr/>
        </p:nvSpPr>
        <p:spPr>
          <a:xfrm>
            <a:off x="685800" y="512874"/>
            <a:ext cx="6096000" cy="530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dirty="0">
                <a:solidFill>
                  <a:srgbClr val="0D9488"/>
                </a:solidFill>
                <a:latin typeface="Berlin Sans FB Demi" panose="020E0802020502020306" pitchFamily="34" charset="0"/>
                <a:ea typeface="Poppins"/>
                <a:cs typeface="Poppins"/>
                <a:sym typeface="Poppins"/>
              </a:rPr>
              <a:t>Alan Turing</a:t>
            </a:r>
          </a:p>
        </p:txBody>
      </p:sp>
      <p:sp>
        <p:nvSpPr>
          <p:cNvPr id="7" name="Google Shape;126;p16">
            <a:extLst>
              <a:ext uri="{FF2B5EF4-FFF2-40B4-BE49-F238E27FC236}">
                <a16:creationId xmlns:a16="http://schemas.microsoft.com/office/drawing/2014/main" id="{2C81E745-4D1A-0096-7732-8EF9A268EF5D}"/>
              </a:ext>
            </a:extLst>
          </p:cNvPr>
          <p:cNvSpPr/>
          <p:nvPr/>
        </p:nvSpPr>
        <p:spPr>
          <a:xfrm>
            <a:off x="571501" y="500789"/>
            <a:ext cx="76200" cy="543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Imagem 4" descr="Alan Turing: vidas pessoal, carreira e legado - Brasil Escola">
            <a:extLst>
              <a:ext uri="{FF2B5EF4-FFF2-40B4-BE49-F238E27FC236}">
                <a16:creationId xmlns:a16="http://schemas.microsoft.com/office/drawing/2014/main" id="{FCF799CF-C5B8-603D-A068-D9A22EEAAC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5294" y="1312606"/>
            <a:ext cx="3780906" cy="5147188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295A609B-F180-9171-66B2-DF1A3DDD120C}"/>
              </a:ext>
            </a:extLst>
          </p:cNvPr>
          <p:cNvSpPr txBox="1"/>
          <p:nvPr/>
        </p:nvSpPr>
        <p:spPr>
          <a:xfrm>
            <a:off x="571501" y="1796901"/>
            <a:ext cx="6096000" cy="3953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Importância: </a:t>
            </a:r>
            <a:r>
              <a:rPr lang="pt-BR" sz="1500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Considerado o pai da computação.</a:t>
            </a:r>
            <a:endParaRPr lang="pt-BR" sz="1500" b="1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9099F318-7DB4-6A59-8344-1475AAF5C0BA}"/>
              </a:ext>
            </a:extLst>
          </p:cNvPr>
          <p:cNvSpPr txBox="1"/>
          <p:nvPr/>
        </p:nvSpPr>
        <p:spPr>
          <a:xfrm>
            <a:off x="571501" y="2294534"/>
            <a:ext cx="6174658" cy="3953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Código Enigma: </a:t>
            </a:r>
            <a:r>
              <a:rPr lang="pt-BR" sz="1500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Liderou a quebra da criptografia nazista.</a:t>
            </a:r>
            <a:endParaRPr lang="pt-BR" sz="1500" b="1" dirty="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2C62564A-46CF-9B60-B7CB-D388F0A1FF25}"/>
              </a:ext>
            </a:extLst>
          </p:cNvPr>
          <p:cNvSpPr txBox="1"/>
          <p:nvPr/>
        </p:nvSpPr>
        <p:spPr>
          <a:xfrm>
            <a:off x="571501" y="2853944"/>
            <a:ext cx="6174658" cy="3953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Teste de Turing: </a:t>
            </a:r>
            <a:r>
              <a:rPr lang="pt-BR" sz="1500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Uma forma de medir a inteligência das máquinas</a:t>
            </a:r>
            <a:endParaRPr lang="pt-BR" sz="1500" b="1" dirty="0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1CE5A1F0-3E5A-9C41-6748-6FF10588A486}"/>
              </a:ext>
            </a:extLst>
          </p:cNvPr>
          <p:cNvSpPr txBox="1"/>
          <p:nvPr/>
        </p:nvSpPr>
        <p:spPr>
          <a:xfrm>
            <a:off x="571501" y="3413354"/>
            <a:ext cx="6174658" cy="741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Máquina de Turing: </a:t>
            </a:r>
            <a:r>
              <a:rPr lang="pt-BR" sz="1500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Uma máquina capaz de computar tudo que é computável</a:t>
            </a:r>
            <a:endParaRPr lang="pt-BR" sz="1500" b="1" dirty="0"/>
          </a:p>
        </p:txBody>
      </p:sp>
    </p:spTree>
    <p:extLst>
      <p:ext uri="{BB962C8B-B14F-4D97-AF65-F5344CB8AC3E}">
        <p14:creationId xmlns:p14="http://schemas.microsoft.com/office/powerpoint/2010/main" val="27314568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327413C-7303-3BE6-D59F-CA1FA5CBFDB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4B1F0E1-5307-A039-3AC8-025658475C8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Google Shape;131;p17" descr="image.png">
            <a:extLst>
              <a:ext uri="{FF2B5EF4-FFF2-40B4-BE49-F238E27FC236}">
                <a16:creationId xmlns:a16="http://schemas.microsoft.com/office/drawing/2014/main" id="{E51EDB85-063E-B371-B4A3-2D26152FEE5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4D256E43-3247-94E7-0DF9-1A6216C725F5}"/>
              </a:ext>
            </a:extLst>
          </p:cNvPr>
          <p:cNvSpPr txBox="1"/>
          <p:nvPr/>
        </p:nvSpPr>
        <p:spPr>
          <a:xfrm>
            <a:off x="647701" y="506831"/>
            <a:ext cx="6096000" cy="530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dirty="0" err="1">
                <a:solidFill>
                  <a:srgbClr val="0D9488"/>
                </a:solidFill>
                <a:latin typeface="Berlin Sans FB Demi" panose="020E0802020502020306" pitchFamily="34" charset="0"/>
                <a:ea typeface="Poppins"/>
                <a:cs typeface="Poppins"/>
                <a:sym typeface="Poppins"/>
              </a:rPr>
              <a:t>Máquina</a:t>
            </a:r>
            <a:r>
              <a:rPr lang="en-US" sz="2850" b="1" dirty="0">
                <a:solidFill>
                  <a:srgbClr val="0D9488"/>
                </a:solidFill>
                <a:latin typeface="Berlin Sans FB Demi" panose="020E0802020502020306" pitchFamily="34" charset="0"/>
                <a:ea typeface="Poppins"/>
                <a:cs typeface="Poppins"/>
                <a:sym typeface="Poppins"/>
              </a:rPr>
              <a:t> de Turing</a:t>
            </a:r>
          </a:p>
        </p:txBody>
      </p:sp>
      <p:sp>
        <p:nvSpPr>
          <p:cNvPr id="9" name="Google Shape;126;p16">
            <a:extLst>
              <a:ext uri="{FF2B5EF4-FFF2-40B4-BE49-F238E27FC236}">
                <a16:creationId xmlns:a16="http://schemas.microsoft.com/office/drawing/2014/main" id="{F0C1C1AB-7103-F144-7F78-8E8A7C1E662B}"/>
              </a:ext>
            </a:extLst>
          </p:cNvPr>
          <p:cNvSpPr/>
          <p:nvPr/>
        </p:nvSpPr>
        <p:spPr>
          <a:xfrm>
            <a:off x="571501" y="500789"/>
            <a:ext cx="76200" cy="543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676224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124075"/>
            <a:ext cx="5238750" cy="2714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81750" y="2124075"/>
            <a:ext cx="5238750" cy="2714625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7"/>
          <p:cNvSpPr txBox="1"/>
          <p:nvPr/>
        </p:nvSpPr>
        <p:spPr>
          <a:xfrm>
            <a:off x="571500" y="512445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D9488"/>
                </a:solidFill>
                <a:latin typeface="Lato"/>
                <a:ea typeface="Lato"/>
                <a:cs typeface="Lato"/>
                <a:sym typeface="Lato"/>
              </a:rPr>
              <a:t>A junção das duas pilhas simula perfeitamente uma fita bidirecional infinita.</a:t>
            </a:r>
            <a:endParaRPr/>
          </a:p>
        </p:txBody>
      </p:sp>
      <p:sp>
        <p:nvSpPr>
          <p:cNvPr id="135" name="Google Shape;135;p17"/>
          <p:cNvSpPr txBox="1"/>
          <p:nvPr/>
        </p:nvSpPr>
        <p:spPr>
          <a:xfrm>
            <a:off x="750570" y="3152775"/>
            <a:ext cx="488061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Pilha da Esquerda</a:t>
            </a:r>
            <a:endParaRPr/>
          </a:p>
        </p:txBody>
      </p:sp>
      <p:sp>
        <p:nvSpPr>
          <p:cNvPr id="136" name="Google Shape;136;p17"/>
          <p:cNvSpPr txBox="1"/>
          <p:nvPr/>
        </p:nvSpPr>
        <p:spPr>
          <a:xfrm>
            <a:off x="866775" y="3743325"/>
            <a:ext cx="46482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Armazena todos os símbolos à esquerda da cabeça de leitura, com o símbolo mais próximo no topo.</a:t>
            </a:r>
            <a:endParaRPr/>
          </a:p>
        </p:txBody>
      </p:sp>
      <p:sp>
        <p:nvSpPr>
          <p:cNvPr id="137" name="Google Shape;137;p17"/>
          <p:cNvSpPr txBox="1"/>
          <p:nvPr/>
        </p:nvSpPr>
        <p:spPr>
          <a:xfrm>
            <a:off x="6560820" y="3152775"/>
            <a:ext cx="488061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Pilha da Direita</a:t>
            </a:r>
            <a:endParaRPr/>
          </a:p>
        </p:txBody>
      </p:sp>
      <p:sp>
        <p:nvSpPr>
          <p:cNvPr id="138" name="Google Shape;138;p17"/>
          <p:cNvSpPr txBox="1"/>
          <p:nvPr/>
        </p:nvSpPr>
        <p:spPr>
          <a:xfrm>
            <a:off x="6677025" y="3743325"/>
            <a:ext cx="46482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Armazena o símbolo sob a cabeça de leitura e todos os símbolos à sua direita na fita.</a:t>
            </a:r>
            <a:endParaRPr/>
          </a:p>
        </p:txBody>
      </p:sp>
      <p:pic>
        <p:nvPicPr>
          <p:cNvPr id="139" name="Google Shape;139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933700" y="2466975"/>
            <a:ext cx="5143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801100" y="2466975"/>
            <a:ext cx="40005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17"/>
          <p:cNvSpPr txBox="1"/>
          <p:nvPr/>
        </p:nvSpPr>
        <p:spPr>
          <a:xfrm>
            <a:off x="571500" y="571500"/>
            <a:ext cx="11601450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D9488"/>
                </a:solidFill>
                <a:latin typeface="Poppins"/>
                <a:ea typeface="Poppins"/>
                <a:cs typeface="Poppins"/>
                <a:sym typeface="Poppins"/>
              </a:rPr>
              <a:t>A Ideia: Duas Pilhas = Uma Fita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7" name="Google Shape;147;p18"/>
          <p:cNvGrpSpPr/>
          <p:nvPr/>
        </p:nvGrpSpPr>
        <p:grpSpPr>
          <a:xfrm>
            <a:off x="1333500" y="1524000"/>
            <a:ext cx="9525000" cy="2857500"/>
            <a:chOff x="1333500" y="1524000"/>
            <a:chExt cx="9525000" cy="2857500"/>
          </a:xfrm>
        </p:grpSpPr>
        <p:sp>
          <p:nvSpPr>
            <p:cNvPr id="148" name="Google Shape;148;p18"/>
            <p:cNvSpPr/>
            <p:nvPr/>
          </p:nvSpPr>
          <p:spPr>
            <a:xfrm>
              <a:off x="1333500" y="1524000"/>
              <a:ext cx="9525000" cy="2857500"/>
            </a:xfrm>
            <a:prstGeom prst="roundRect">
              <a:avLst>
                <a:gd name="adj" fmla="val 5333"/>
              </a:avLst>
            </a:prstGeom>
            <a:solidFill>
              <a:srgbClr val="F8FAFC"/>
            </a:solidFill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18"/>
            <p:cNvSpPr txBox="1"/>
            <p:nvPr/>
          </p:nvSpPr>
          <p:spPr>
            <a:xfrm>
              <a:off x="1809750" y="2000250"/>
              <a:ext cx="28575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000" b="1">
                  <a:solidFill>
                    <a:srgbClr val="0D9488"/>
                  </a:solidFill>
                  <a:latin typeface="Poppins"/>
                  <a:ea typeface="Poppins"/>
                  <a:cs typeface="Poppins"/>
                  <a:sym typeface="Poppins"/>
                </a:rPr>
                <a:t>2</a:t>
              </a:r>
              <a:endParaRPr sz="7000" b="1">
                <a:solidFill>
                  <a:srgbClr val="0D9488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80" b="1">
                  <a:solidFill>
                    <a:srgbClr val="1E293B"/>
                  </a:solidFill>
                  <a:latin typeface="Poppins"/>
                  <a:ea typeface="Poppins"/>
                  <a:cs typeface="Poppins"/>
                  <a:sym typeface="Poppins"/>
                </a:rPr>
                <a:t>Pilhas</a:t>
              </a:r>
              <a:endParaRPr sz="1680" b="1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50" name="Google Shape;150;p18"/>
            <p:cNvSpPr txBox="1"/>
            <p:nvPr/>
          </p:nvSpPr>
          <p:spPr>
            <a:xfrm>
              <a:off x="5619750" y="2000250"/>
              <a:ext cx="9525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000">
                  <a:solidFill>
                    <a:srgbClr val="0D9488"/>
                  </a:solidFill>
                  <a:latin typeface="Lato"/>
                  <a:ea typeface="Lato"/>
                  <a:cs typeface="Lato"/>
                  <a:sym typeface="Lato"/>
                </a:rPr>
                <a:t>=</a:t>
              </a:r>
              <a:endParaRPr sz="6000">
                <a:solidFill>
                  <a:srgbClr val="0D9488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51" name="Google Shape;151;p18"/>
            <p:cNvSpPr txBox="1"/>
            <p:nvPr/>
          </p:nvSpPr>
          <p:spPr>
            <a:xfrm>
              <a:off x="7524750" y="2000250"/>
              <a:ext cx="28575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000" b="1">
                  <a:solidFill>
                    <a:srgbClr val="0D9488"/>
                  </a:solidFill>
                  <a:latin typeface="Poppins"/>
                  <a:ea typeface="Poppins"/>
                  <a:cs typeface="Poppins"/>
                  <a:sym typeface="Poppins"/>
                </a:rPr>
                <a:t>1</a:t>
              </a:r>
              <a:endParaRPr sz="7000" b="1">
                <a:solidFill>
                  <a:srgbClr val="0D9488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80" b="1">
                  <a:solidFill>
                    <a:srgbClr val="1E293B"/>
                  </a:solidFill>
                  <a:latin typeface="Poppins"/>
                  <a:ea typeface="Poppins"/>
                  <a:cs typeface="Poppins"/>
                  <a:sym typeface="Poppins"/>
                </a:rPr>
                <a:t>Máq. Turing</a:t>
              </a:r>
              <a:endParaRPr sz="1680" b="1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grpSp>
        <p:nvGrpSpPr>
          <p:cNvPr id="152" name="Google Shape;152;p18"/>
          <p:cNvGrpSpPr/>
          <p:nvPr/>
        </p:nvGrpSpPr>
        <p:grpSpPr>
          <a:xfrm>
            <a:off x="1333500" y="4572000"/>
            <a:ext cx="9525000" cy="1524000"/>
            <a:chOff x="1333500" y="4572000"/>
            <a:chExt cx="9525000" cy="1524000"/>
          </a:xfrm>
        </p:grpSpPr>
        <p:sp>
          <p:nvSpPr>
            <p:cNvPr id="153" name="Google Shape;153;p18"/>
            <p:cNvSpPr/>
            <p:nvPr/>
          </p:nvSpPr>
          <p:spPr>
            <a:xfrm>
              <a:off x="1333500" y="4572000"/>
              <a:ext cx="9525000" cy="15240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18"/>
            <p:cNvSpPr txBox="1"/>
            <p:nvPr/>
          </p:nvSpPr>
          <p:spPr>
            <a:xfrm>
              <a:off x="1714500" y="4762500"/>
              <a:ext cx="87630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0D9488"/>
                  </a:solidFill>
                  <a:latin typeface="Lato"/>
                  <a:ea typeface="Lato"/>
                  <a:cs typeface="Lato"/>
                  <a:sym typeface="Lato"/>
                </a:rPr>
                <a:t>Mapeamento de Configuração</a:t>
              </a:r>
              <a:endParaRPr sz="1800" b="1">
                <a:solidFill>
                  <a:srgbClr val="0D9488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marL="0" lvl="0" indent="0" algn="ctr" rtl="0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en-US" sz="150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Uma configuração de MT </a:t>
              </a:r>
              <a:r>
                <a:rPr lang="en-US" sz="1500" b="1">
                  <a:solidFill>
                    <a:srgbClr val="475569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uqv</a:t>
              </a:r>
              <a:r>
                <a:rPr lang="en-US" sz="150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 pode ser mapeada para:</a:t>
              </a:r>
              <a:endParaRPr sz="15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marL="0" lvl="0" indent="0" algn="ctr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500" b="1">
                  <a:solidFill>
                    <a:srgbClr val="1E293B"/>
                  </a:solidFill>
                  <a:latin typeface="Lato"/>
                  <a:ea typeface="Lato"/>
                  <a:cs typeface="Lato"/>
                  <a:sym typeface="Lato"/>
                </a:rPr>
                <a:t>Pilha₁ = reverse(u) </a:t>
              </a:r>
              <a:r>
                <a:rPr lang="en-US" sz="1500" b="0">
                  <a:solidFill>
                    <a:srgbClr val="94A3B8"/>
                  </a:solidFill>
                  <a:latin typeface="Lato"/>
                  <a:ea typeface="Lato"/>
                  <a:cs typeface="Lato"/>
                  <a:sym typeface="Lato"/>
                </a:rPr>
                <a:t>e</a:t>
              </a:r>
              <a:r>
                <a:rPr lang="en-US" sz="1500" b="1">
                  <a:solidFill>
                    <a:srgbClr val="1E293B"/>
                  </a:solidFill>
                  <a:latin typeface="Lato"/>
                  <a:ea typeface="Lato"/>
                  <a:cs typeface="Lato"/>
                  <a:sym typeface="Lato"/>
                </a:rPr>
                <a:t> Pilha₂ = v</a:t>
              </a:r>
              <a:endParaRPr sz="1500" b="1">
                <a:solidFill>
                  <a:srgbClr val="1E293B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155" name="Google Shape;155;p18"/>
          <p:cNvSpPr txBox="1"/>
          <p:nvPr/>
        </p:nvSpPr>
        <p:spPr>
          <a:xfrm>
            <a:off x="571500" y="571500"/>
            <a:ext cx="116016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D9488"/>
                </a:solidFill>
                <a:latin typeface="Poppins"/>
                <a:ea typeface="Poppins"/>
                <a:cs typeface="Poppins"/>
                <a:sym typeface="Poppins"/>
              </a:rPr>
              <a:t>O Teorema da Equivalência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19"/>
          <p:cNvSpPr txBox="1"/>
          <p:nvPr/>
        </p:nvSpPr>
        <p:spPr>
          <a:xfrm>
            <a:off x="571500" y="1004887"/>
            <a:ext cx="5200650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D9488"/>
                </a:solidFill>
                <a:latin typeface="Poppins"/>
                <a:ea typeface="Poppins"/>
                <a:cs typeface="Poppins"/>
                <a:sym typeface="Poppins"/>
              </a:rPr>
              <a:t>Simulando Movimentos</a:t>
            </a:r>
            <a:endParaRPr/>
          </a:p>
        </p:txBody>
      </p:sp>
      <p:sp>
        <p:nvSpPr>
          <p:cNvPr id="162" name="Google Shape;162;p19"/>
          <p:cNvSpPr txBox="1"/>
          <p:nvPr/>
        </p:nvSpPr>
        <p:spPr>
          <a:xfrm>
            <a:off x="571500" y="2081212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Para mover a cabeça de leitura para a </a:t>
            </a:r>
            <a:r>
              <a:rPr lang="en-US" sz="150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DIREITA</a:t>
            </a: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:</a:t>
            </a:r>
            <a:endParaRPr/>
          </a:p>
        </p:txBody>
      </p:sp>
      <p:sp>
        <p:nvSpPr>
          <p:cNvPr id="163" name="Google Shape;163;p19"/>
          <p:cNvSpPr txBox="1"/>
          <p:nvPr/>
        </p:nvSpPr>
        <p:spPr>
          <a:xfrm>
            <a:off x="571500" y="4062412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Para mover para a </a:t>
            </a:r>
            <a:r>
              <a:rPr lang="en-US" sz="150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ESQUERDA</a:t>
            </a: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:</a:t>
            </a:r>
            <a:endParaRPr/>
          </a:p>
        </p:txBody>
      </p:sp>
      <p:sp>
        <p:nvSpPr>
          <p:cNvPr id="164" name="Google Shape;164;p19"/>
          <p:cNvSpPr txBox="1"/>
          <p:nvPr/>
        </p:nvSpPr>
        <p:spPr>
          <a:xfrm>
            <a:off x="952500" y="2728912"/>
            <a:ext cx="4572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Pop do símbolo da Pilha Direita.</a:t>
            </a:r>
            <a:endParaRPr/>
          </a:p>
        </p:txBody>
      </p:sp>
      <p:sp>
        <p:nvSpPr>
          <p:cNvPr id="165" name="Google Shape;165;p19"/>
          <p:cNvSpPr txBox="1"/>
          <p:nvPr/>
        </p:nvSpPr>
        <p:spPr>
          <a:xfrm>
            <a:off x="952500" y="3224212"/>
            <a:ext cx="4572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Push desse símbolo na Pilha Esquerda.</a:t>
            </a:r>
            <a:endParaRPr/>
          </a:p>
        </p:txBody>
      </p:sp>
      <p:sp>
        <p:nvSpPr>
          <p:cNvPr id="166" name="Google Shape;166;p19"/>
          <p:cNvSpPr txBox="1"/>
          <p:nvPr/>
        </p:nvSpPr>
        <p:spPr>
          <a:xfrm>
            <a:off x="952500" y="4710112"/>
            <a:ext cx="4572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Pop do símbolo da Pilha Esquerda.</a:t>
            </a:r>
            <a:endParaRPr/>
          </a:p>
        </p:txBody>
      </p:sp>
      <p:sp>
        <p:nvSpPr>
          <p:cNvPr id="167" name="Google Shape;167;p19"/>
          <p:cNvSpPr txBox="1"/>
          <p:nvPr/>
        </p:nvSpPr>
        <p:spPr>
          <a:xfrm>
            <a:off x="952500" y="5205412"/>
            <a:ext cx="4572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Push desse símbolo na Pilha Direita.</a:t>
            </a:r>
            <a:endParaRPr/>
          </a:p>
        </p:txBody>
      </p:sp>
      <p:pic>
        <p:nvPicPr>
          <p:cNvPr id="168" name="Google Shape;168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771775"/>
            <a:ext cx="1809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267075"/>
            <a:ext cx="16192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752975"/>
            <a:ext cx="1809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5248275"/>
            <a:ext cx="16192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300287"/>
            <a:ext cx="3492549" cy="3143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799" y="2300287"/>
            <a:ext cx="3492549" cy="3143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2300287"/>
            <a:ext cx="3492549" cy="3143250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20"/>
          <p:cNvSpPr txBox="1"/>
          <p:nvPr/>
        </p:nvSpPr>
        <p:spPr>
          <a:xfrm>
            <a:off x="794225" y="3328987"/>
            <a:ext cx="3047099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Turing-Completo</a:t>
            </a:r>
            <a:endParaRPr/>
          </a:p>
        </p:txBody>
      </p:sp>
      <p:sp>
        <p:nvSpPr>
          <p:cNvPr id="182" name="Google Shape;182;p20"/>
          <p:cNvSpPr txBox="1"/>
          <p:nvPr/>
        </p:nvSpPr>
        <p:spPr>
          <a:xfrm>
            <a:off x="866775" y="3919537"/>
            <a:ext cx="2901999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Com duas pilhas, o sistema pode simular qualquer algoritmo computável conhecido.</a:t>
            </a:r>
            <a:endParaRPr/>
          </a:p>
        </p:txBody>
      </p:sp>
      <p:sp>
        <p:nvSpPr>
          <p:cNvPr id="183" name="Google Shape;183;p20"/>
          <p:cNvSpPr txBox="1"/>
          <p:nvPr/>
        </p:nvSpPr>
        <p:spPr>
          <a:xfrm>
            <a:off x="4572524" y="3328987"/>
            <a:ext cx="3047099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Memória Infinita</a:t>
            </a:r>
            <a:endParaRPr/>
          </a:p>
        </p:txBody>
      </p:sp>
      <p:sp>
        <p:nvSpPr>
          <p:cNvPr id="184" name="Google Shape;184;p20"/>
          <p:cNvSpPr txBox="1"/>
          <p:nvPr/>
        </p:nvSpPr>
        <p:spPr>
          <a:xfrm>
            <a:off x="4645074" y="3919537"/>
            <a:ext cx="2901999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Ao contrário do PDA simples, não há restrição de acesso a símbolos antigos (basta mover entre pilhas).</a:t>
            </a:r>
            <a:endParaRPr/>
          </a:p>
        </p:txBody>
      </p:sp>
      <p:sp>
        <p:nvSpPr>
          <p:cNvPr id="185" name="Google Shape;185;p20"/>
          <p:cNvSpPr txBox="1"/>
          <p:nvPr/>
        </p:nvSpPr>
        <p:spPr>
          <a:xfrm>
            <a:off x="8350824" y="3452812"/>
            <a:ext cx="3047099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Decidibilidade</a:t>
            </a:r>
            <a:endParaRPr/>
          </a:p>
        </p:txBody>
      </p:sp>
      <p:sp>
        <p:nvSpPr>
          <p:cNvPr id="186" name="Google Shape;186;p20"/>
          <p:cNvSpPr txBox="1"/>
          <p:nvPr/>
        </p:nvSpPr>
        <p:spPr>
          <a:xfrm>
            <a:off x="8423374" y="4043362"/>
            <a:ext cx="2901999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Permite a implementação de algoritmos de decisão complexos e reconhecimento de LRE.</a:t>
            </a:r>
            <a:endParaRPr/>
          </a:p>
        </p:txBody>
      </p:sp>
      <p:pic>
        <p:nvPicPr>
          <p:cNvPr id="187" name="Google Shape;187;p2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117675" y="2643187"/>
            <a:ext cx="4000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20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67400" y="2643187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20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588549" y="2595562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20"/>
          <p:cNvSpPr txBox="1"/>
          <p:nvPr/>
        </p:nvSpPr>
        <p:spPr>
          <a:xfrm>
            <a:off x="571500" y="571500"/>
            <a:ext cx="11601450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D9488"/>
                </a:solidFill>
                <a:latin typeface="Poppins"/>
                <a:ea typeface="Poppins"/>
                <a:cs typeface="Poppins"/>
                <a:sym typeface="Poppins"/>
              </a:rPr>
              <a:t>Poder Computacional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5" name="Google Shape;195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21"/>
          <p:cNvSpPr/>
          <p:nvPr/>
        </p:nvSpPr>
        <p:spPr>
          <a:xfrm>
            <a:off x="571500" y="2414587"/>
            <a:ext cx="11049000" cy="291465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97" name="Google Shape;197;p21"/>
          <p:cNvGraphicFramePr/>
          <p:nvPr/>
        </p:nvGraphicFramePr>
        <p:xfrm>
          <a:off x="571500" y="2414587"/>
          <a:ext cx="11049000" cy="2914625"/>
        </p:xfrm>
        <a:graphic>
          <a:graphicData uri="http://schemas.openxmlformats.org/drawingml/2006/table">
            <a:tbl>
              <a:tblPr firstRow="1" bandRow="1">
                <a:noFill/>
                <a:tableStyleId>{80B100E6-5FE3-4F4E-B15D-0814346C4D85}</a:tableStyleId>
              </a:tblPr>
              <a:tblGrid>
                <a:gridCol w="2817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8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15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6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82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D9488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Modelo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D9488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Tipo de Memória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D9488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Classe de Linguagem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D9488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Acesso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2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Autômato Finito (AF)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Estados apenas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Regulares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Nenhum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2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Autômato de Pilha (PDA)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 Pilha (LIFO)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Livres de Contexto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Topo apenas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2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PDA com 2 Pilhas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 Pilhas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Recursivamente Enumeráveis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Total (Simulando Fita)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2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Máquina de Turing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Fita Infinita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Recursivamente Enumeráveis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Bidirecional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8" name="Google Shape;198;p21"/>
          <p:cNvSpPr/>
          <p:nvPr/>
        </p:nvSpPr>
        <p:spPr>
          <a:xfrm>
            <a:off x="571500" y="3028950"/>
            <a:ext cx="281791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21"/>
          <p:cNvSpPr/>
          <p:nvPr/>
        </p:nvSpPr>
        <p:spPr>
          <a:xfrm>
            <a:off x="3389411" y="3028950"/>
            <a:ext cx="239851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21"/>
          <p:cNvSpPr/>
          <p:nvPr/>
        </p:nvSpPr>
        <p:spPr>
          <a:xfrm>
            <a:off x="5787925" y="3028950"/>
            <a:ext cx="331589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21"/>
          <p:cNvSpPr/>
          <p:nvPr/>
        </p:nvSpPr>
        <p:spPr>
          <a:xfrm>
            <a:off x="9103816" y="3028950"/>
            <a:ext cx="251668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1"/>
          <p:cNvSpPr/>
          <p:nvPr/>
        </p:nvSpPr>
        <p:spPr>
          <a:xfrm>
            <a:off x="571500" y="3600450"/>
            <a:ext cx="281791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1"/>
          <p:cNvSpPr/>
          <p:nvPr/>
        </p:nvSpPr>
        <p:spPr>
          <a:xfrm>
            <a:off x="3389411" y="3600450"/>
            <a:ext cx="239851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1"/>
          <p:cNvSpPr/>
          <p:nvPr/>
        </p:nvSpPr>
        <p:spPr>
          <a:xfrm>
            <a:off x="5787925" y="3600450"/>
            <a:ext cx="331589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1"/>
          <p:cNvSpPr/>
          <p:nvPr/>
        </p:nvSpPr>
        <p:spPr>
          <a:xfrm>
            <a:off x="9103816" y="3600450"/>
            <a:ext cx="251668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1"/>
          <p:cNvSpPr/>
          <p:nvPr/>
        </p:nvSpPr>
        <p:spPr>
          <a:xfrm>
            <a:off x="571500" y="4171950"/>
            <a:ext cx="281791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21"/>
          <p:cNvSpPr/>
          <p:nvPr/>
        </p:nvSpPr>
        <p:spPr>
          <a:xfrm>
            <a:off x="3389411" y="4171950"/>
            <a:ext cx="239851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21"/>
          <p:cNvSpPr/>
          <p:nvPr/>
        </p:nvSpPr>
        <p:spPr>
          <a:xfrm>
            <a:off x="5787925" y="4171950"/>
            <a:ext cx="331589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21"/>
          <p:cNvSpPr/>
          <p:nvPr/>
        </p:nvSpPr>
        <p:spPr>
          <a:xfrm>
            <a:off x="9103816" y="4171950"/>
            <a:ext cx="251668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21"/>
          <p:cNvSpPr/>
          <p:nvPr/>
        </p:nvSpPr>
        <p:spPr>
          <a:xfrm>
            <a:off x="571500" y="4743450"/>
            <a:ext cx="281791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1"/>
          <p:cNvSpPr/>
          <p:nvPr/>
        </p:nvSpPr>
        <p:spPr>
          <a:xfrm>
            <a:off x="3389411" y="4743450"/>
            <a:ext cx="239851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21"/>
          <p:cNvSpPr/>
          <p:nvPr/>
        </p:nvSpPr>
        <p:spPr>
          <a:xfrm>
            <a:off x="5787925" y="4743450"/>
            <a:ext cx="331589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1"/>
          <p:cNvSpPr/>
          <p:nvPr/>
        </p:nvSpPr>
        <p:spPr>
          <a:xfrm>
            <a:off x="9103816" y="4743450"/>
            <a:ext cx="251668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21"/>
          <p:cNvSpPr/>
          <p:nvPr/>
        </p:nvSpPr>
        <p:spPr>
          <a:xfrm>
            <a:off x="571500" y="5314950"/>
            <a:ext cx="281791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21"/>
          <p:cNvSpPr/>
          <p:nvPr/>
        </p:nvSpPr>
        <p:spPr>
          <a:xfrm>
            <a:off x="3389411" y="5314950"/>
            <a:ext cx="239851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21"/>
          <p:cNvSpPr/>
          <p:nvPr/>
        </p:nvSpPr>
        <p:spPr>
          <a:xfrm>
            <a:off x="5787925" y="5314950"/>
            <a:ext cx="331589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21"/>
          <p:cNvSpPr/>
          <p:nvPr/>
        </p:nvSpPr>
        <p:spPr>
          <a:xfrm>
            <a:off x="9103816" y="5314950"/>
            <a:ext cx="251668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21"/>
          <p:cNvSpPr txBox="1"/>
          <p:nvPr/>
        </p:nvSpPr>
        <p:spPr>
          <a:xfrm>
            <a:off x="571500" y="571500"/>
            <a:ext cx="11601450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D9488"/>
                </a:solidFill>
                <a:latin typeface="Poppins"/>
                <a:ea typeface="Poppins"/>
                <a:cs typeface="Poppins"/>
                <a:sym typeface="Poppins"/>
              </a:rPr>
              <a:t>Comparação de Modelos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22"/>
          <p:cNvSpPr/>
          <p:nvPr/>
        </p:nvSpPr>
        <p:spPr>
          <a:xfrm>
            <a:off x="571500" y="3871912"/>
            <a:ext cx="11049000" cy="381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22"/>
          <p:cNvSpPr txBox="1"/>
          <p:nvPr/>
        </p:nvSpPr>
        <p:spPr>
          <a:xfrm>
            <a:off x="510733" y="4354710"/>
            <a:ext cx="2552193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Leitura de 'a'</a:t>
            </a:r>
            <a:endParaRPr/>
          </a:p>
        </p:txBody>
      </p:sp>
      <p:sp>
        <p:nvSpPr>
          <p:cNvPr id="226" name="Google Shape;226;p22"/>
          <p:cNvSpPr txBox="1"/>
          <p:nvPr/>
        </p:nvSpPr>
        <p:spPr>
          <a:xfrm>
            <a:off x="571500" y="4945260"/>
            <a:ext cx="243066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Enquanto lê 'a', empilha 'X' na Pilha 1.</a:t>
            </a:r>
            <a:endParaRPr/>
          </a:p>
        </p:txBody>
      </p:sp>
      <p:sp>
        <p:nvSpPr>
          <p:cNvPr id="227" name="Google Shape;227;p22"/>
          <p:cNvSpPr txBox="1"/>
          <p:nvPr/>
        </p:nvSpPr>
        <p:spPr>
          <a:xfrm>
            <a:off x="3383413" y="1998464"/>
            <a:ext cx="2552193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Leitura de 'b'</a:t>
            </a:r>
            <a:endParaRPr/>
          </a:p>
        </p:txBody>
      </p:sp>
      <p:sp>
        <p:nvSpPr>
          <p:cNvPr id="228" name="Google Shape;228;p22"/>
          <p:cNvSpPr txBox="1"/>
          <p:nvPr/>
        </p:nvSpPr>
        <p:spPr>
          <a:xfrm>
            <a:off x="3444180" y="2589014"/>
            <a:ext cx="243066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Enquanto lê 'b', empilha 'Y' na Pilha 2.</a:t>
            </a:r>
            <a:endParaRPr/>
          </a:p>
        </p:txBody>
      </p:sp>
      <p:sp>
        <p:nvSpPr>
          <p:cNvPr id="229" name="Google Shape;229;p22"/>
          <p:cNvSpPr txBox="1"/>
          <p:nvPr/>
        </p:nvSpPr>
        <p:spPr>
          <a:xfrm>
            <a:off x="6256094" y="4354710"/>
            <a:ext cx="2552193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Verificação 'c'</a:t>
            </a:r>
            <a:endParaRPr/>
          </a:p>
        </p:txBody>
      </p:sp>
      <p:sp>
        <p:nvSpPr>
          <p:cNvPr id="230" name="Google Shape;230;p22"/>
          <p:cNvSpPr txBox="1"/>
          <p:nvPr/>
        </p:nvSpPr>
        <p:spPr>
          <a:xfrm>
            <a:off x="6316860" y="4945260"/>
            <a:ext cx="243066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Lê 'c', desempilha 'X' da P1 e 'Y' da P2 simultaneamente.</a:t>
            </a:r>
            <a:endParaRPr/>
          </a:p>
        </p:txBody>
      </p:sp>
      <p:sp>
        <p:nvSpPr>
          <p:cNvPr id="231" name="Google Shape;231;p22"/>
          <p:cNvSpPr txBox="1"/>
          <p:nvPr/>
        </p:nvSpPr>
        <p:spPr>
          <a:xfrm>
            <a:off x="9128774" y="1693664"/>
            <a:ext cx="2552193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Aceitação</a:t>
            </a:r>
            <a:endParaRPr/>
          </a:p>
        </p:txBody>
      </p:sp>
      <p:sp>
        <p:nvSpPr>
          <p:cNvPr id="232" name="Google Shape;232;p22"/>
          <p:cNvSpPr txBox="1"/>
          <p:nvPr/>
        </p:nvSpPr>
        <p:spPr>
          <a:xfrm>
            <a:off x="9189541" y="2284214"/>
            <a:ext cx="243066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Se ambas as pilhas esvaziarem ao fim da cadeia, aceite.</a:t>
            </a:r>
            <a:endParaRPr/>
          </a:p>
        </p:txBody>
      </p:sp>
      <p:sp>
        <p:nvSpPr>
          <p:cNvPr id="233" name="Google Shape;233;p22"/>
          <p:cNvSpPr txBox="1"/>
          <p:nvPr/>
        </p:nvSpPr>
        <p:spPr>
          <a:xfrm>
            <a:off x="571500" y="571500"/>
            <a:ext cx="11601450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D9488"/>
                </a:solidFill>
                <a:latin typeface="Poppins"/>
                <a:ea typeface="Poppins"/>
                <a:cs typeface="Poppins"/>
                <a:sym typeface="Poppins"/>
              </a:rPr>
              <a:t>Exemplo: Reconhecendo {aⁿbⁿcⁿ}</a:t>
            </a:r>
            <a:endParaRPr/>
          </a:p>
        </p:txBody>
      </p:sp>
      <p:sp>
        <p:nvSpPr>
          <p:cNvPr id="234" name="Google Shape;234;p22"/>
          <p:cNvSpPr/>
          <p:nvPr/>
        </p:nvSpPr>
        <p:spPr>
          <a:xfrm>
            <a:off x="1691580" y="3776662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22"/>
          <p:cNvSpPr/>
          <p:nvPr/>
        </p:nvSpPr>
        <p:spPr>
          <a:xfrm>
            <a:off x="4564260" y="3776662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22"/>
          <p:cNvSpPr/>
          <p:nvPr/>
        </p:nvSpPr>
        <p:spPr>
          <a:xfrm>
            <a:off x="7436941" y="3776662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2"/>
          <p:cNvSpPr/>
          <p:nvPr/>
        </p:nvSpPr>
        <p:spPr>
          <a:xfrm>
            <a:off x="10309621" y="3776662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2" name="Google Shape;242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23"/>
          <p:cNvSpPr txBox="1"/>
          <p:nvPr/>
        </p:nvSpPr>
        <p:spPr>
          <a:xfrm>
            <a:off x="6381750" y="2624137"/>
            <a:ext cx="5500687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O Salto de Poder</a:t>
            </a:r>
            <a:endParaRPr/>
          </a:p>
        </p:txBody>
      </p:sp>
      <p:sp>
        <p:nvSpPr>
          <p:cNvPr id="244" name="Google Shape;244;p23"/>
          <p:cNvSpPr txBox="1"/>
          <p:nvPr/>
        </p:nvSpPr>
        <p:spPr>
          <a:xfrm>
            <a:off x="6381750" y="3214687"/>
            <a:ext cx="52387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O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acréscimo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de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uma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segunda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pilha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retira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o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modelo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da zona das </a:t>
            </a:r>
            <a:r>
              <a:rPr lang="en-US" sz="1500" b="1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Linguagens</a:t>
            </a:r>
            <a:r>
              <a:rPr lang="en-US" sz="1500" b="1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Livres de </a:t>
            </a:r>
            <a:r>
              <a:rPr lang="en-US" sz="1500" b="1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Contexto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e o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eleva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ao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topo da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hierarquia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dirty="0"/>
          </a:p>
        </p:txBody>
      </p:sp>
      <p:sp>
        <p:nvSpPr>
          <p:cNvPr id="245" name="Google Shape;245;p23"/>
          <p:cNvSpPr txBox="1"/>
          <p:nvPr/>
        </p:nvSpPr>
        <p:spPr>
          <a:xfrm>
            <a:off x="6381750" y="4014787"/>
            <a:ext cx="52387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Isso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demonstra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que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a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diferença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entre a "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simplicidade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" de um PDA e a "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complexidade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" de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uma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MT é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apenas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uma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questão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de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estrutura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de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memória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organizada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dirty="0"/>
          </a:p>
        </p:txBody>
      </p:sp>
      <p:sp>
        <p:nvSpPr>
          <p:cNvPr id="246" name="Google Shape;246;p23"/>
          <p:cNvSpPr txBox="1"/>
          <p:nvPr/>
        </p:nvSpPr>
        <p:spPr>
          <a:xfrm>
            <a:off x="571500" y="571500"/>
            <a:ext cx="11601450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D9488"/>
                </a:solidFill>
                <a:latin typeface="Poppins"/>
                <a:ea typeface="Poppins"/>
                <a:cs typeface="Poppins"/>
                <a:sym typeface="Poppins"/>
              </a:rPr>
              <a:t>Hierarquia de Chomsky</a:t>
            </a:r>
            <a:endParaRPr/>
          </a:p>
        </p:txBody>
      </p:sp>
      <p:pic>
        <p:nvPicPr>
          <p:cNvPr id="247" name="Google Shape;247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1713" y="2471725"/>
            <a:ext cx="4143375" cy="2457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2" name="Google Shape;252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824037"/>
            <a:ext cx="110490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24"/>
          <p:cNvSpPr txBox="1"/>
          <p:nvPr/>
        </p:nvSpPr>
        <p:spPr>
          <a:xfrm>
            <a:off x="1809750" y="2681287"/>
            <a:ext cx="8572500" cy="1571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0" i="1" u="none" strike="noStrike" cap="none" dirty="0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 "Podemos </a:t>
            </a:r>
            <a:r>
              <a:rPr lang="en-US" sz="2700" b="0" i="1" u="none" strike="noStrike" cap="none" dirty="0" err="1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apenas</a:t>
            </a:r>
            <a:r>
              <a:rPr lang="en-US" sz="2700" b="0" i="1" u="none" strike="noStrike" cap="none" dirty="0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700" b="0" i="1" u="none" strike="noStrike" cap="none" dirty="0" err="1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ver</a:t>
            </a:r>
            <a:r>
              <a:rPr lang="en-US" sz="2700" b="0" i="1" u="none" strike="noStrike" cap="none" dirty="0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700" b="0" i="1" u="none" strike="noStrike" cap="none" dirty="0" err="1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uma</a:t>
            </a:r>
            <a:r>
              <a:rPr lang="en-US" sz="2700" b="0" i="1" u="none" strike="noStrike" cap="none" dirty="0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700" b="0" i="1" u="none" strike="noStrike" cap="none" dirty="0" err="1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curta</a:t>
            </a:r>
            <a:r>
              <a:rPr lang="en-US" sz="2700" b="0" i="1" u="none" strike="noStrike" cap="none" dirty="0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700" b="0" i="1" u="none" strike="noStrike" cap="none" dirty="0" err="1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distância</a:t>
            </a:r>
            <a:r>
              <a:rPr lang="en-US" sz="2700" b="0" i="1" u="none" strike="noStrike" cap="none" dirty="0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 à </a:t>
            </a:r>
            <a:r>
              <a:rPr lang="en-US" sz="2700" b="0" i="1" u="none" strike="noStrike" cap="none" dirty="0" err="1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frente</a:t>
            </a:r>
            <a:r>
              <a:rPr lang="en-US" sz="2700" b="0" i="1" u="none" strike="noStrike" cap="none" dirty="0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, mas </a:t>
            </a:r>
            <a:r>
              <a:rPr lang="en-US" sz="2700" b="0" i="1" u="none" strike="noStrike" cap="none" dirty="0" err="1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podemos</a:t>
            </a:r>
            <a:r>
              <a:rPr lang="en-US" sz="2700" b="0" i="1" u="none" strike="noStrike" cap="none" dirty="0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700" b="0" i="1" u="none" strike="noStrike" cap="none" dirty="0" err="1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ver</a:t>
            </a:r>
            <a:r>
              <a:rPr lang="en-US" sz="2700" b="0" i="1" u="none" strike="noStrike" cap="none" dirty="0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700" b="0" i="1" u="none" strike="noStrike" cap="none" dirty="0" err="1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que</a:t>
            </a:r>
            <a:r>
              <a:rPr lang="en-US" sz="2700" b="0" i="1" u="none" strike="noStrike" cap="none" dirty="0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700" b="0" i="1" u="none" strike="noStrike" cap="none" dirty="0" err="1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há</a:t>
            </a:r>
            <a:r>
              <a:rPr lang="en-US" sz="2700" b="0" i="1" u="none" strike="noStrike" cap="none" dirty="0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700" b="0" i="1" u="none" strike="noStrike" cap="none" dirty="0" err="1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muito</a:t>
            </a:r>
            <a:r>
              <a:rPr lang="en-US" sz="2700" b="0" i="1" u="none" strike="noStrike" cap="none" dirty="0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700" b="0" i="1" u="none" strike="noStrike" cap="none" dirty="0" err="1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ali</a:t>
            </a:r>
            <a:r>
              <a:rPr lang="en-US" sz="2700" b="0" i="1" u="none" strike="noStrike" cap="none" dirty="0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700" b="0" i="1" u="none" strike="noStrike" cap="none" dirty="0" err="1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que</a:t>
            </a:r>
            <a:r>
              <a:rPr lang="en-US" sz="2700" b="0" i="1" u="none" strike="noStrike" cap="none" dirty="0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700" b="0" i="1" u="none" strike="noStrike" cap="none" dirty="0" err="1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precisa</a:t>
            </a:r>
            <a:r>
              <a:rPr lang="en-US" sz="2700" b="0" i="1" u="none" strike="noStrike" cap="none" dirty="0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 ser </a:t>
            </a:r>
            <a:r>
              <a:rPr lang="en-US" sz="2700" b="0" i="1" u="none" strike="noStrike" cap="none" dirty="0" err="1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feito</a:t>
            </a:r>
            <a:r>
              <a:rPr lang="en-US" sz="2700" b="0" i="1" u="none" strike="noStrike" cap="none" dirty="0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." </a:t>
            </a:r>
            <a:endParaRPr dirty="0"/>
          </a:p>
        </p:txBody>
      </p:sp>
      <p:sp>
        <p:nvSpPr>
          <p:cNvPr id="255" name="Google Shape;255;p24"/>
          <p:cNvSpPr txBox="1"/>
          <p:nvPr/>
        </p:nvSpPr>
        <p:spPr>
          <a:xfrm>
            <a:off x="571500" y="4538662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— Alan Turing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593</Words>
  <Application>Microsoft Office PowerPoint</Application>
  <PresentationFormat>Widescreen</PresentationFormat>
  <Paragraphs>87</Paragraphs>
  <Slides>13</Slides>
  <Notes>11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13</vt:i4>
      </vt:variant>
    </vt:vector>
  </HeadingPairs>
  <TitlesOfParts>
    <vt:vector size="20" baseType="lpstr">
      <vt:lpstr>Berlin Sans FB Demi</vt:lpstr>
      <vt:lpstr>Poppins</vt:lpstr>
      <vt:lpstr>Arial</vt:lpstr>
      <vt:lpstr>Courier New</vt:lpstr>
      <vt:lpstr>Lato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Levy Abreu</cp:lastModifiedBy>
  <cp:revision>5</cp:revision>
  <dcterms:modified xsi:type="dcterms:W3CDTF">2026-06-09T00:14:54Z</dcterms:modified>
</cp:coreProperties>
</file>